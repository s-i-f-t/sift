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Lst>
  <p:sldSz cy="32918400" cx="43891200"/>
  <p:notesSz cx="6858000" cy="9144000"/>
  <p:embeddedFontLst>
    <p:embeddedFont>
      <p:font typeface="Helvetica Neue"/>
      <p:regular r:id="rId8"/>
      <p:bold r:id="rId9"/>
      <p:italic r:id="rId10"/>
      <p:boldItalic r:id="rId11"/>
    </p:embeddedFont>
    <p:embeddedFont>
      <p:font typeface="Arial Black"/>
      <p:regular r:id="rId1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264">
          <p15:clr>
            <a:srgbClr val="A4A3A4"/>
          </p15:clr>
        </p15:guide>
        <p15:guide id="6" pos="27384">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 uri="GoogleSlidesCustomDataVersion2">
      <go:slidesCustomData xmlns:go="http://customooxmlschemas.google.com/" r:id="rId13" roundtripDataSignature="AMtx7mhNeuLw/K6cNyyvhq1FdII+tn5JN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6B4EF38-2129-4F2A-A8C0-1B8BAF3392DA}">
  <a:tblStyle styleId="{36B4EF38-2129-4F2A-A8C0-1B8BAF3392DA}"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9EFF7"/>
          </a:solidFill>
        </a:fill>
      </a:tcStyle>
    </a:wholeTbl>
    <a:band1H>
      <a:tcTxStyle/>
      <a:tcStyle>
        <a:fill>
          <a:solidFill>
            <a:srgbClr val="D0DEEF"/>
          </a:solidFill>
        </a:fill>
      </a:tcStyle>
    </a:band1H>
    <a:band2H>
      <a:tcTxStyle/>
    </a:band2H>
    <a:band1V>
      <a:tcTxStyle/>
      <a:tcStyle>
        <a:fill>
          <a:solidFill>
            <a:srgbClr val="D0DEEF"/>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318" orient="horz"/>
        <p:guide pos="288" orient="horz"/>
        <p:guide pos="20160" orient="horz"/>
        <p:guide orient="horz"/>
        <p:guide pos="264"/>
        <p:guide pos="27384"/>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11" Type="http://schemas.openxmlformats.org/officeDocument/2006/relationships/font" Target="fonts/HelveticaNeue-boldItalic.fntdata"/><Relationship Id="rId10" Type="http://schemas.openxmlformats.org/officeDocument/2006/relationships/font" Target="fonts/HelveticaNeue-italic.fntdata"/><Relationship Id="rId13" Type="http://customschemas.google.com/relationships/presentationmetadata" Target="metadata"/><Relationship Id="rId12" Type="http://schemas.openxmlformats.org/officeDocument/2006/relationships/font" Target="fonts/ArialBlack-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font" Target="fonts/HelveticaNeue-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HelveticaNeue-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rmAutofit/>
          </a:bodyPr>
          <a:lstStyle>
            <a:lvl1pPr indent="-228600" lvl="0" marL="4572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33" name="Google Shape;33;p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6x48 template">
  <p:cSld name="36x48 template">
    <p:spTree>
      <p:nvGrpSpPr>
        <p:cNvPr id="13" name="Shape 13"/>
        <p:cNvGrpSpPr/>
        <p:nvPr/>
      </p:nvGrpSpPr>
      <p:grpSpPr>
        <a:xfrm>
          <a:off x="0" y="0"/>
          <a:ext cx="0" cy="0"/>
          <a:chOff x="0" y="0"/>
          <a:chExt cx="0" cy="0"/>
        </a:xfrm>
      </p:grpSpPr>
      <p:sp>
        <p:nvSpPr>
          <p:cNvPr id="14" name="Google Shape;14;p3"/>
          <p:cNvSpPr txBox="1"/>
          <p:nvPr>
            <p:ph idx="1" type="body"/>
          </p:nvPr>
        </p:nvSpPr>
        <p:spPr>
          <a:xfrm>
            <a:off x="459674" y="6378481"/>
            <a:ext cx="10056813"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5" name="Google Shape;15;p3"/>
          <p:cNvSpPr txBox="1"/>
          <p:nvPr>
            <p:ph idx="2" type="body"/>
          </p:nvPr>
        </p:nvSpPr>
        <p:spPr>
          <a:xfrm>
            <a:off x="477827" y="5548749"/>
            <a:ext cx="10048875"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6" name="Google Shape;16;p3"/>
          <p:cNvSpPr txBox="1"/>
          <p:nvPr>
            <p:ph idx="3" type="body"/>
          </p:nvPr>
        </p:nvSpPr>
        <p:spPr>
          <a:xfrm>
            <a:off x="477825" y="14212513"/>
            <a:ext cx="10050462"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7" name="Google Shape;17;p3"/>
          <p:cNvSpPr txBox="1"/>
          <p:nvPr>
            <p:ph idx="4" type="body"/>
          </p:nvPr>
        </p:nvSpPr>
        <p:spPr>
          <a:xfrm>
            <a:off x="11460161" y="6378481"/>
            <a:ext cx="10048874"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8" name="Google Shape;18;p3"/>
          <p:cNvSpPr txBox="1"/>
          <p:nvPr>
            <p:ph idx="5" type="body"/>
          </p:nvPr>
        </p:nvSpPr>
        <p:spPr>
          <a:xfrm>
            <a:off x="11460162" y="5548749"/>
            <a:ext cx="10048875"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9" name="Google Shape;19;p3"/>
          <p:cNvSpPr txBox="1"/>
          <p:nvPr>
            <p:ph idx="6" type="body"/>
          </p:nvPr>
        </p:nvSpPr>
        <p:spPr>
          <a:xfrm>
            <a:off x="22385343" y="6378481"/>
            <a:ext cx="10048874"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0" name="Google Shape;20;p3"/>
          <p:cNvSpPr txBox="1"/>
          <p:nvPr>
            <p:ph idx="7" type="body"/>
          </p:nvPr>
        </p:nvSpPr>
        <p:spPr>
          <a:xfrm>
            <a:off x="22377404" y="5548749"/>
            <a:ext cx="10058400"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1" name="Google Shape;21;p3"/>
          <p:cNvSpPr txBox="1"/>
          <p:nvPr>
            <p:ph idx="8" type="body"/>
          </p:nvPr>
        </p:nvSpPr>
        <p:spPr>
          <a:xfrm>
            <a:off x="33390292" y="5548749"/>
            <a:ext cx="10047018"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2" name="Google Shape;22;p3"/>
          <p:cNvSpPr txBox="1"/>
          <p:nvPr>
            <p:ph idx="9" type="body"/>
          </p:nvPr>
        </p:nvSpPr>
        <p:spPr>
          <a:xfrm>
            <a:off x="33390292" y="6378481"/>
            <a:ext cx="10047018"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3" name="Google Shape;23;p3"/>
          <p:cNvSpPr txBox="1"/>
          <p:nvPr>
            <p:ph idx="13" type="body"/>
          </p:nvPr>
        </p:nvSpPr>
        <p:spPr>
          <a:xfrm>
            <a:off x="33390292" y="14272738"/>
            <a:ext cx="10047018"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4" name="Google Shape;24;p3"/>
          <p:cNvSpPr txBox="1"/>
          <p:nvPr>
            <p:ph idx="14" type="body"/>
          </p:nvPr>
        </p:nvSpPr>
        <p:spPr>
          <a:xfrm>
            <a:off x="33390292" y="15011402"/>
            <a:ext cx="10052050"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5" name="Google Shape;25;p3"/>
          <p:cNvSpPr txBox="1"/>
          <p:nvPr>
            <p:ph idx="15" type="body"/>
          </p:nvPr>
        </p:nvSpPr>
        <p:spPr>
          <a:xfrm>
            <a:off x="33390292" y="25679401"/>
            <a:ext cx="10047018"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6" name="Google Shape;26;p3"/>
          <p:cNvSpPr txBox="1"/>
          <p:nvPr>
            <p:ph idx="16" type="body"/>
          </p:nvPr>
        </p:nvSpPr>
        <p:spPr>
          <a:xfrm>
            <a:off x="33390292" y="26433446"/>
            <a:ext cx="10052050"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7" name="Google Shape;27;p3"/>
          <p:cNvSpPr txBox="1"/>
          <p:nvPr>
            <p:ph idx="17" type="body"/>
          </p:nvPr>
        </p:nvSpPr>
        <p:spPr>
          <a:xfrm>
            <a:off x="459674" y="14951552"/>
            <a:ext cx="10056813"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8" name="Google Shape;28;p3"/>
          <p:cNvSpPr txBox="1"/>
          <p:nvPr>
            <p:ph idx="18" type="body"/>
          </p:nvPr>
        </p:nvSpPr>
        <p:spPr>
          <a:xfrm>
            <a:off x="5932593" y="3383947"/>
            <a:ext cx="31998968" cy="1280160"/>
          </a:xfrm>
          <a:prstGeom prst="rect">
            <a:avLst/>
          </a:prstGeom>
          <a:noFill/>
          <a:ln>
            <a:noFill/>
          </a:ln>
        </p:spPr>
        <p:txBody>
          <a:bodyPr anchorCtr="0" anchor="t" bIns="45700" lIns="91425" spcFirstLastPara="1" rIns="91425" wrap="square" tIns="45700">
            <a:normAutofit/>
          </a:bodyPr>
          <a:lstStyle>
            <a:lvl1pPr indent="-228600" lvl="0" marL="457200" marR="0" rtl="0" algn="ctr">
              <a:spcBef>
                <a:spcPts val="1200"/>
              </a:spcBef>
              <a:spcAft>
                <a:spcPts val="0"/>
              </a:spcAft>
              <a:buClr>
                <a:srgbClr val="1F3864"/>
              </a:buClr>
              <a:buSzPts val="6000"/>
              <a:buFont typeface="Arial"/>
              <a:buNone/>
              <a:defRPr b="0" i="0" sz="6000" u="none" cap="none" strike="noStrike">
                <a:solidFill>
                  <a:srgbClr val="1F3864"/>
                </a:solidFill>
                <a:latin typeface="Calibri"/>
                <a:ea typeface="Calibri"/>
                <a:cs typeface="Calibri"/>
                <a:sym typeface="Calibri"/>
              </a:defRPr>
            </a:lvl1pPr>
            <a:lvl2pPr indent="-228600" lvl="1" marL="9144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2pPr>
            <a:lvl3pPr indent="-228600" lvl="2" marL="13716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3pPr>
            <a:lvl4pPr indent="-228600" lvl="3" marL="18288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4pPr>
            <a:lvl5pPr indent="-228600" lvl="4" marL="22860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9" name="Google Shape;29;p3"/>
          <p:cNvSpPr txBox="1"/>
          <p:nvPr>
            <p:ph idx="19" type="body"/>
          </p:nvPr>
        </p:nvSpPr>
        <p:spPr>
          <a:xfrm>
            <a:off x="5932593" y="2103787"/>
            <a:ext cx="31998968" cy="1280160"/>
          </a:xfrm>
          <a:prstGeom prst="rect">
            <a:avLst/>
          </a:prstGeom>
          <a:noFill/>
          <a:ln>
            <a:noFill/>
          </a:ln>
        </p:spPr>
        <p:txBody>
          <a:bodyPr anchorCtr="1" anchor="t" bIns="45700" lIns="91425" spcFirstLastPara="1" rIns="91425" wrap="square" tIns="45700">
            <a:normAutofit/>
          </a:bodyPr>
          <a:lstStyle>
            <a:lvl1pPr indent="-228600" lvl="0" marL="457200" marR="0" rtl="0" algn="ctr">
              <a:spcBef>
                <a:spcPts val="1760"/>
              </a:spcBef>
              <a:spcAft>
                <a:spcPts val="0"/>
              </a:spcAft>
              <a:buClr>
                <a:srgbClr val="1F3864"/>
              </a:buClr>
              <a:buSzPts val="8800"/>
              <a:buFont typeface="Arial"/>
              <a:buNone/>
              <a:defRPr b="0" i="0" sz="8800" u="none" cap="none" strike="noStrike">
                <a:solidFill>
                  <a:srgbClr val="1F3864"/>
                </a:solidFill>
                <a:latin typeface="Calibri"/>
                <a:ea typeface="Calibri"/>
                <a:cs typeface="Calibri"/>
                <a:sym typeface="Calibri"/>
              </a:defRPr>
            </a:lvl1pPr>
            <a:lvl2pPr indent="-228600" lvl="1" marL="9144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2pPr>
            <a:lvl3pPr indent="-228600" lvl="2" marL="13716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3pPr>
            <a:lvl4pPr indent="-228600" lvl="3" marL="18288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4pPr>
            <a:lvl5pPr indent="-228600" lvl="4" marL="22860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30" name="Google Shape;30;p3"/>
          <p:cNvSpPr txBox="1"/>
          <p:nvPr>
            <p:ph idx="20" type="body"/>
          </p:nvPr>
        </p:nvSpPr>
        <p:spPr>
          <a:xfrm>
            <a:off x="5932593" y="465813"/>
            <a:ext cx="31998968" cy="1637973"/>
          </a:xfrm>
          <a:prstGeom prst="rect">
            <a:avLst/>
          </a:prstGeom>
          <a:noFill/>
          <a:ln>
            <a:noFill/>
          </a:ln>
        </p:spPr>
        <p:txBody>
          <a:bodyPr anchorCtr="1" anchor="t" bIns="45700" lIns="91425" spcFirstLastPara="1" rIns="91425" wrap="square" tIns="45700">
            <a:normAutofit/>
          </a:bodyPr>
          <a:lstStyle>
            <a:lvl1pPr indent="-228600" lvl="0" marL="457200" marR="0" rtl="0" algn="ctr">
              <a:spcBef>
                <a:spcPts val="2300"/>
              </a:spcBef>
              <a:spcAft>
                <a:spcPts val="0"/>
              </a:spcAft>
              <a:buClr>
                <a:srgbClr val="1F3864"/>
              </a:buClr>
              <a:buSzPts val="11500"/>
              <a:buFont typeface="Arial"/>
              <a:buNone/>
              <a:defRPr b="1" i="0" sz="11500" u="none" cap="none" strike="noStrike">
                <a:solidFill>
                  <a:srgbClr val="1F3864"/>
                </a:solidFill>
                <a:latin typeface="Calibri"/>
                <a:ea typeface="Calibri"/>
                <a:cs typeface="Calibri"/>
                <a:sym typeface="Calibri"/>
              </a:defRPr>
            </a:lvl1pPr>
            <a:lvl2pPr indent="-228600" lvl="1" marL="9144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2pPr>
            <a:lvl3pPr indent="-228600" lvl="2" marL="13716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3pPr>
            <a:lvl4pPr indent="-228600" lvl="3" marL="18288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4pPr>
            <a:lvl5pPr indent="-228600" lvl="4" marL="22860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hyperlink" Target="https://www.posterpresentations.com/how-to-change-the-research-poster-template-colors.html" TargetMode="External"/><Relationship Id="rId2" Type="http://schemas.openxmlformats.org/officeDocument/2006/relationships/slideLayout" Target="../slideLayouts/slideLayout1.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
          <p:cNvSpPr txBox="1"/>
          <p:nvPr/>
        </p:nvSpPr>
        <p:spPr>
          <a:xfrm>
            <a:off x="1567305" y="32390910"/>
            <a:ext cx="2514600" cy="341436"/>
          </a:xfrm>
          <a:prstGeom prst="rect">
            <a:avLst/>
          </a:prstGeom>
          <a:noFill/>
          <a:ln>
            <a:noFill/>
          </a:ln>
        </p:spPr>
        <p:txBody>
          <a:bodyPr anchorCtr="0" anchor="t" bIns="45600" lIns="91250" spcFirstLastPara="1" rIns="91250" wrap="square" tIns="45600">
            <a:spAutoFit/>
          </a:bodyPr>
          <a:lstStyle/>
          <a:p>
            <a:pPr indent="0" lvl="0" marL="0" marR="0" rtl="0" algn="l">
              <a:lnSpc>
                <a:spcPct val="65000"/>
              </a:lnSpc>
              <a:spcBef>
                <a:spcPts val="0"/>
              </a:spcBef>
              <a:spcAft>
                <a:spcPts val="0"/>
              </a:spcAft>
              <a:buNone/>
            </a:pPr>
            <a:r>
              <a:rPr b="1" i="0" lang="en-US" sz="500" u="none" cap="none" strike="noStrike">
                <a:solidFill>
                  <a:srgbClr val="BFBFBF"/>
                </a:solidFill>
                <a:latin typeface="Arial"/>
                <a:ea typeface="Arial"/>
                <a:cs typeface="Arial"/>
                <a:sym typeface="Arial"/>
              </a:rPr>
              <a:t>RESEARCH POSTER PRESENTATION DESIGN © 2019</a:t>
            </a:r>
            <a:endParaRPr/>
          </a:p>
          <a:p>
            <a:pPr indent="0" lvl="0" marL="0" marR="0" rtl="0" algn="l">
              <a:lnSpc>
                <a:spcPct val="65000"/>
              </a:lnSpc>
              <a:spcBef>
                <a:spcPts val="550"/>
              </a:spcBef>
              <a:spcAft>
                <a:spcPts val="0"/>
              </a:spcAft>
              <a:buNone/>
            </a:pPr>
            <a:r>
              <a:rPr b="1" i="0" lang="en-US" sz="1100" u="none" cap="none" strike="noStrike">
                <a:solidFill>
                  <a:srgbClr val="BFBFBF"/>
                </a:solidFill>
                <a:latin typeface="Arial"/>
                <a:ea typeface="Arial"/>
                <a:cs typeface="Arial"/>
                <a:sym typeface="Arial"/>
              </a:rPr>
              <a:t>www.PosterPresentations.com</a:t>
            </a:r>
            <a:endParaRPr/>
          </a:p>
        </p:txBody>
      </p:sp>
      <p:graphicFrame>
        <p:nvGraphicFramePr>
          <p:cNvPr id="11" name="Google Shape;11;p2"/>
          <p:cNvGraphicFramePr/>
          <p:nvPr/>
        </p:nvGraphicFramePr>
        <p:xfrm>
          <a:off x="-10611120" y="14098"/>
          <a:ext cx="3000000" cy="3000000"/>
        </p:xfrm>
        <a:graphic>
          <a:graphicData uri="http://schemas.openxmlformats.org/drawingml/2006/table">
            <a:tbl>
              <a:tblPr bandRow="1" firstRow="1">
                <a:noFill/>
                <a:tableStyleId>{36B4EF38-2129-4F2A-A8C0-1B8BAF3392DA}</a:tableStyleId>
              </a:tblPr>
              <a:tblGrid>
                <a:gridCol w="4192250"/>
                <a:gridCol w="5584625"/>
              </a:tblGrid>
              <a:tr h="1329125">
                <a:tc gridSpan="2">
                  <a:txBody>
                    <a:bodyPr/>
                    <a:lstStyle/>
                    <a:p>
                      <a:pPr indent="0" lvl="0" marL="0" marR="0" rtl="0" algn="ctr">
                        <a:lnSpc>
                          <a:spcPct val="100000"/>
                        </a:lnSpc>
                        <a:spcBef>
                          <a:spcPts val="0"/>
                        </a:spcBef>
                        <a:spcAft>
                          <a:spcPts val="0"/>
                        </a:spcAft>
                        <a:buClr>
                          <a:srgbClr val="1F3A4E"/>
                        </a:buClr>
                        <a:buSzPts val="3600"/>
                        <a:buFont typeface="Arial Black"/>
                        <a:buNone/>
                      </a:pPr>
                      <a:r>
                        <a:rPr b="0" lang="en-US" sz="3600" u="none" cap="none" strike="noStrike">
                          <a:solidFill>
                            <a:srgbClr val="1F3A4E"/>
                          </a:solidFill>
                          <a:latin typeface="Arial Black"/>
                          <a:ea typeface="Arial Black"/>
                          <a:cs typeface="Arial Black"/>
                          <a:sym typeface="Arial Black"/>
                        </a:rPr>
                        <a:t>QUICK START GUIDE</a:t>
                      </a:r>
                      <a:br>
                        <a:rPr b="0" lang="en-US" sz="3600" u="none" cap="none" strike="noStrike">
                          <a:solidFill>
                            <a:srgbClr val="1F3A4E"/>
                          </a:solidFill>
                          <a:latin typeface="Arial Black"/>
                          <a:ea typeface="Arial Black"/>
                          <a:cs typeface="Arial Black"/>
                          <a:sym typeface="Arial Black"/>
                        </a:rPr>
                      </a:br>
                      <a:r>
                        <a:rPr b="1" lang="en-US" sz="2800" u="none" cap="none" strike="noStrike">
                          <a:solidFill>
                            <a:srgbClr val="FF0000"/>
                          </a:solidFill>
                          <a:latin typeface="Trebuchet MS"/>
                          <a:ea typeface="Trebuchet MS"/>
                          <a:cs typeface="Trebuchet MS"/>
                          <a:sym typeface="Trebuchet MS"/>
                        </a:rPr>
                        <a:t>(THIS SIDEBAR WILL NOT PRINT)</a:t>
                      </a:r>
                      <a:endParaRPr b="1" sz="3600" u="none" cap="none" strike="noStrike">
                        <a:solidFill>
                          <a:schemeClr val="lt1"/>
                        </a:solidFill>
                        <a:latin typeface="Trebuchet MS"/>
                        <a:ea typeface="Trebuchet MS"/>
                        <a:cs typeface="Trebuchet MS"/>
                        <a:sym typeface="Trebuchet MS"/>
                      </a:endParaRPr>
                    </a:p>
                  </a:txBody>
                  <a:tcPr marT="137150" marB="45725" marR="91450" marL="182875">
                    <a:solidFill>
                      <a:srgbClr val="FFC000"/>
                    </a:solidFill>
                  </a:tcPr>
                </a:tc>
                <a:tc hMerge="1"/>
              </a:tr>
              <a:tr h="4206625">
                <a:tc gridSpan="2">
                  <a:txBody>
                    <a:bodyPr/>
                    <a:lstStyle/>
                    <a:p>
                      <a:pPr indent="0" lvl="0" marL="0" marR="0" rtl="0" algn="l">
                        <a:spcBef>
                          <a:spcPts val="0"/>
                        </a:spcBef>
                        <a:spcAft>
                          <a:spcPts val="0"/>
                        </a:spcAft>
                        <a:buNone/>
                      </a:pPr>
                      <a:r>
                        <a:rPr i="0" lang="en-US" sz="2000" u="none" cap="none" strike="noStrike">
                          <a:solidFill>
                            <a:srgbClr val="D9D9D9"/>
                          </a:solidFill>
                          <a:latin typeface="Arial"/>
                          <a:ea typeface="Arial"/>
                          <a:cs typeface="Arial"/>
                          <a:sym typeface="Arial"/>
                        </a:rPr>
                        <a:t>This PowerPoint template produces a </a:t>
                      </a:r>
                      <a:r>
                        <a:rPr i="0" lang="en-US" sz="2000" u="none" cap="none" strike="noStrike">
                          <a:solidFill>
                            <a:srgbClr val="FFC000"/>
                          </a:solidFill>
                          <a:latin typeface="Arial"/>
                          <a:ea typeface="Arial"/>
                          <a:cs typeface="Arial"/>
                          <a:sym typeface="Arial"/>
                        </a:rPr>
                        <a:t>36"x48" </a:t>
                      </a:r>
                      <a:r>
                        <a:rPr i="0" lang="en-US" sz="2000" u="none" cap="none" strike="noStrike">
                          <a:solidFill>
                            <a:srgbClr val="D9D9D9"/>
                          </a:solidFill>
                          <a:latin typeface="Arial"/>
                          <a:ea typeface="Arial"/>
                          <a:cs typeface="Arial"/>
                          <a:sym typeface="Arial"/>
                        </a:rPr>
                        <a:t>presentation poster. You can use it to create your research poster by placing your title, subtitle, text, tables, charts and photos. </a:t>
                      </a:r>
                      <a:endParaRPr/>
                    </a:p>
                    <a:p>
                      <a:pPr indent="0" lvl="0" marL="0" marR="0" rtl="0" algn="l">
                        <a:spcBef>
                          <a:spcPts val="0"/>
                        </a:spcBef>
                        <a:spcAft>
                          <a:spcPts val="0"/>
                        </a:spcAft>
                        <a:buNone/>
                      </a:pPr>
                      <a:r>
                        <a:t/>
                      </a:r>
                      <a:endParaRPr i="0" sz="2000" u="none" cap="none" strike="noStrike">
                        <a:solidFill>
                          <a:srgbClr val="D9D9D9"/>
                        </a:solidFill>
                        <a:latin typeface="Arial"/>
                        <a:ea typeface="Arial"/>
                        <a:cs typeface="Arial"/>
                        <a:sym typeface="Arial"/>
                      </a:endParaRPr>
                    </a:p>
                    <a:p>
                      <a:pPr indent="0" lvl="0" marL="0" marR="0" rtl="0" algn="l">
                        <a:spcBef>
                          <a:spcPts val="0"/>
                        </a:spcBef>
                        <a:spcAft>
                          <a:spcPts val="0"/>
                        </a:spcAft>
                        <a:buNone/>
                      </a:pPr>
                      <a:r>
                        <a:rPr i="0" lang="en-US" sz="2000" u="none" cap="none" strike="noStrike">
                          <a:solidFill>
                            <a:srgbClr val="D9D9D9"/>
                          </a:solidFill>
                          <a:latin typeface="Arial"/>
                          <a:ea typeface="Arial"/>
                          <a:cs typeface="Arial"/>
                          <a:sym typeface="Arial"/>
                        </a:rPr>
                        <a:t>We provide a series of online tutorials that will guide you through the poster design process and answer your poster production questions. For complete template tutorials, go online to </a:t>
                      </a:r>
                      <a:r>
                        <a:rPr i="0" lang="en-US" sz="2000" u="none" cap="none" strike="noStrike">
                          <a:solidFill>
                            <a:srgbClr val="FFC000"/>
                          </a:solidFill>
                          <a:latin typeface="Arial"/>
                          <a:ea typeface="Arial"/>
                          <a:cs typeface="Arial"/>
                          <a:sym typeface="Arial"/>
                        </a:rPr>
                        <a:t>PosterPresentations.com</a:t>
                      </a:r>
                      <a:r>
                        <a:rPr i="0" lang="en-US" sz="2000" u="none" cap="none" strike="noStrike">
                          <a:solidFill>
                            <a:srgbClr val="D9D9D9"/>
                          </a:solidFill>
                          <a:latin typeface="Arial"/>
                          <a:ea typeface="Arial"/>
                          <a:cs typeface="Arial"/>
                          <a:sym typeface="Arial"/>
                        </a:rPr>
                        <a:t> and click on the  </a:t>
                      </a:r>
                      <a:r>
                        <a:rPr i="0" lang="en-US" sz="2000" u="none" cap="none" strike="noStrike">
                          <a:solidFill>
                            <a:srgbClr val="FFC000"/>
                          </a:solidFill>
                          <a:latin typeface="Arial"/>
                          <a:ea typeface="Arial"/>
                          <a:cs typeface="Arial"/>
                          <a:sym typeface="Arial"/>
                        </a:rPr>
                        <a:t>HELP DESK</a:t>
                      </a:r>
                      <a:r>
                        <a:rPr i="0" lang="en-US" sz="2000" u="none" cap="none" strike="noStrike">
                          <a:solidFill>
                            <a:srgbClr val="D9D9D9"/>
                          </a:solidFill>
                          <a:latin typeface="Arial"/>
                          <a:ea typeface="Arial"/>
                          <a:cs typeface="Arial"/>
                          <a:sym typeface="Arial"/>
                        </a:rPr>
                        <a:t> tab.</a:t>
                      </a:r>
                      <a:endParaRPr/>
                    </a:p>
                    <a:p>
                      <a:pPr indent="0" lvl="0" marL="0" marR="0" rtl="0" algn="l">
                        <a:spcBef>
                          <a:spcPts val="0"/>
                        </a:spcBef>
                        <a:spcAft>
                          <a:spcPts val="0"/>
                        </a:spcAft>
                        <a:buNone/>
                      </a:pPr>
                      <a:r>
                        <a:t/>
                      </a:r>
                      <a:endParaRPr i="0" sz="2000" u="none" cap="none" strike="noStrike">
                        <a:solidFill>
                          <a:srgbClr val="D9D9D9"/>
                        </a:solidFill>
                        <a:latin typeface="Arial"/>
                        <a:ea typeface="Arial"/>
                        <a:cs typeface="Arial"/>
                        <a:sym typeface="Arial"/>
                      </a:endParaRPr>
                    </a:p>
                    <a:p>
                      <a:pPr indent="0" lvl="0" marL="0" marR="0" rtl="0" algn="l">
                        <a:spcBef>
                          <a:spcPts val="0"/>
                        </a:spcBef>
                        <a:spcAft>
                          <a:spcPts val="0"/>
                        </a:spcAft>
                        <a:buNone/>
                      </a:pPr>
                      <a:r>
                        <a:rPr i="0" lang="en-US" sz="2000" u="none" cap="none" strike="noStrike">
                          <a:solidFill>
                            <a:srgbClr val="D9D9D9"/>
                          </a:solidFill>
                          <a:latin typeface="Arial"/>
                          <a:ea typeface="Arial"/>
                          <a:cs typeface="Arial"/>
                          <a:sym typeface="Arial"/>
                        </a:rPr>
                        <a:t>To print your poster using our same-day professional printing service, go online to </a:t>
                      </a:r>
                      <a:r>
                        <a:rPr i="0" lang="en-US" sz="2000" u="none" cap="none" strike="noStrike">
                          <a:solidFill>
                            <a:srgbClr val="FFC000"/>
                          </a:solidFill>
                          <a:latin typeface="Arial"/>
                          <a:ea typeface="Arial"/>
                          <a:cs typeface="Arial"/>
                          <a:sym typeface="Arial"/>
                        </a:rPr>
                        <a:t>PosterPresentations.com</a:t>
                      </a:r>
                      <a:r>
                        <a:rPr i="0" lang="en-US" sz="2000" u="none" cap="none" strike="noStrike">
                          <a:solidFill>
                            <a:srgbClr val="D9D9D9"/>
                          </a:solidFill>
                          <a:latin typeface="Arial"/>
                          <a:ea typeface="Arial"/>
                          <a:cs typeface="Arial"/>
                          <a:sym typeface="Arial"/>
                        </a:rPr>
                        <a:t> and click on "</a:t>
                      </a:r>
                      <a:r>
                        <a:rPr i="0" lang="en-US" sz="2000" u="none" cap="none" strike="noStrike">
                          <a:solidFill>
                            <a:srgbClr val="FFC000"/>
                          </a:solidFill>
                          <a:latin typeface="Arial"/>
                          <a:ea typeface="Arial"/>
                          <a:cs typeface="Arial"/>
                          <a:sym typeface="Arial"/>
                        </a:rPr>
                        <a:t>Order your poster</a:t>
                      </a:r>
                      <a:r>
                        <a:rPr i="0" lang="en-US" sz="2000" u="none" cap="none" strike="noStrike">
                          <a:solidFill>
                            <a:srgbClr val="D9D9D9"/>
                          </a:solidFill>
                          <a:latin typeface="Arial"/>
                          <a:ea typeface="Arial"/>
                          <a:cs typeface="Arial"/>
                          <a:sym typeface="Arial"/>
                        </a:rPr>
                        <a:t>".</a:t>
                      </a:r>
                      <a:endParaRPr b="1" sz="2000" u="none" cap="none" strike="noStrike">
                        <a:solidFill>
                          <a:srgbClr val="D9D9D9"/>
                        </a:solidFill>
                        <a:latin typeface="Arial"/>
                        <a:ea typeface="Arial"/>
                        <a:cs typeface="Arial"/>
                        <a:sym typeface="Arial"/>
                      </a:endParaRPr>
                    </a:p>
                  </a:txBody>
                  <a:tcPr marT="137150" marB="45725" marR="91450" marL="182875">
                    <a:solidFill>
                      <a:srgbClr val="010101"/>
                    </a:solidFill>
                  </a:tcPr>
                </a:tc>
                <a:tc hMerge="1"/>
              </a:tr>
              <a:tr h="4572425">
                <a:tc>
                  <a:txBody>
                    <a:bodyPr/>
                    <a:lstStyle/>
                    <a:p>
                      <a:pPr indent="0" lvl="0" marL="0" marR="0" rtl="0" algn="ctr">
                        <a:spcBef>
                          <a:spcPts val="0"/>
                        </a:spcBef>
                        <a:spcAft>
                          <a:spcPts val="0"/>
                        </a:spcAft>
                        <a:buNone/>
                      </a:pPr>
                      <a:r>
                        <a:t/>
                      </a:r>
                      <a:endParaRPr sz="2000" u="none" cap="none" strike="noStrike">
                        <a:solidFill>
                          <a:srgbClr val="1F3A4E"/>
                        </a:solidFill>
                      </a:endParaRPr>
                    </a:p>
                    <a:p>
                      <a:pPr indent="0" lvl="0" marL="0" marR="0" rtl="0" algn="ctr">
                        <a:spcBef>
                          <a:spcPts val="0"/>
                        </a:spcBef>
                        <a:spcAft>
                          <a:spcPts val="0"/>
                        </a:spcAft>
                        <a:buNone/>
                      </a:pPr>
                      <a:r>
                        <a:t/>
                      </a:r>
                      <a:endParaRPr sz="2000" u="none" cap="none" strike="noStrike">
                        <a:solidFill>
                          <a:srgbClr val="1F3A4E"/>
                        </a:solidFill>
                      </a:endParaRPr>
                    </a:p>
                    <a:p>
                      <a:pPr indent="0" lvl="0" marL="0" marR="0" rtl="0" algn="ctr">
                        <a:spcBef>
                          <a:spcPts val="0"/>
                        </a:spcBef>
                        <a:spcAft>
                          <a:spcPts val="0"/>
                        </a:spcAft>
                        <a:buNone/>
                      </a:pPr>
                      <a:r>
                        <a:rPr lang="en-US" sz="2000" u="none" cap="none" strike="noStrike">
                          <a:solidFill>
                            <a:schemeClr val="lt1"/>
                          </a:solidFill>
                          <a:latin typeface="Arial"/>
                          <a:ea typeface="Arial"/>
                          <a:cs typeface="Arial"/>
                          <a:sym typeface="Arial"/>
                        </a:rPr>
                        <a:t>This is a template for a </a:t>
                      </a:r>
                      <a:endParaRPr/>
                    </a:p>
                    <a:p>
                      <a:pPr indent="0" lvl="0" marL="0" marR="0" rtl="0" algn="ctr">
                        <a:spcBef>
                          <a:spcPts val="0"/>
                        </a:spcBef>
                        <a:spcAft>
                          <a:spcPts val="0"/>
                        </a:spcAft>
                        <a:buNone/>
                      </a:pPr>
                      <a:r>
                        <a:rPr lang="en-US" sz="2000" u="none" cap="none" strike="noStrike">
                          <a:solidFill>
                            <a:schemeClr val="lt1"/>
                          </a:solidFill>
                          <a:latin typeface="Arial"/>
                          <a:ea typeface="Arial"/>
                          <a:cs typeface="Arial"/>
                          <a:sym typeface="Arial"/>
                        </a:rPr>
                        <a:t>presentation poster</a:t>
                      </a:r>
                      <a:br>
                        <a:rPr lang="en-US" sz="2000" u="none" cap="none" strike="noStrike">
                          <a:solidFill>
                            <a:schemeClr val="lt1"/>
                          </a:solidFill>
                          <a:latin typeface="Arial"/>
                          <a:ea typeface="Arial"/>
                          <a:cs typeface="Arial"/>
                          <a:sym typeface="Arial"/>
                        </a:rPr>
                      </a:br>
                      <a:r>
                        <a:rPr b="1" lang="en-US" sz="3600" u="none" cap="none" strike="noStrike">
                          <a:solidFill>
                            <a:srgbClr val="FFC000"/>
                          </a:solidFill>
                          <a:latin typeface="Arial"/>
                          <a:ea typeface="Arial"/>
                          <a:cs typeface="Arial"/>
                          <a:sym typeface="Arial"/>
                        </a:rPr>
                        <a:t>36 inches tall</a:t>
                      </a:r>
                      <a:br>
                        <a:rPr b="1" lang="en-US" sz="3600" u="none" cap="none" strike="noStrike">
                          <a:solidFill>
                            <a:srgbClr val="FFC000"/>
                          </a:solidFill>
                          <a:latin typeface="Arial"/>
                          <a:ea typeface="Arial"/>
                          <a:cs typeface="Arial"/>
                          <a:sym typeface="Arial"/>
                        </a:rPr>
                      </a:br>
                      <a:r>
                        <a:rPr b="1" lang="en-US" sz="3600" u="none" cap="none" strike="noStrike">
                          <a:solidFill>
                            <a:srgbClr val="FFC000"/>
                          </a:solidFill>
                          <a:latin typeface="Arial"/>
                          <a:ea typeface="Arial"/>
                          <a:cs typeface="Arial"/>
                          <a:sym typeface="Arial"/>
                        </a:rPr>
                        <a:t>by</a:t>
                      </a:r>
                      <a:br>
                        <a:rPr b="1" lang="en-US" sz="3600" u="none" cap="none" strike="noStrike">
                          <a:solidFill>
                            <a:srgbClr val="FFC000"/>
                          </a:solidFill>
                          <a:latin typeface="Arial"/>
                          <a:ea typeface="Arial"/>
                          <a:cs typeface="Arial"/>
                          <a:sym typeface="Arial"/>
                        </a:rPr>
                      </a:br>
                      <a:r>
                        <a:rPr b="1" lang="en-US" sz="3600" u="none" cap="none" strike="noStrike">
                          <a:solidFill>
                            <a:srgbClr val="FFC000"/>
                          </a:solidFill>
                          <a:latin typeface="Arial"/>
                          <a:ea typeface="Arial"/>
                          <a:cs typeface="Arial"/>
                          <a:sym typeface="Arial"/>
                        </a:rPr>
                        <a:t>48 inches wide</a:t>
                      </a:r>
                      <a:br>
                        <a:rPr lang="en-US" sz="2000" u="none" cap="none" strike="noStrike">
                          <a:solidFill>
                            <a:schemeClr val="lt1"/>
                          </a:solidFill>
                          <a:latin typeface="Arial"/>
                          <a:ea typeface="Arial"/>
                          <a:cs typeface="Arial"/>
                          <a:sym typeface="Arial"/>
                        </a:rPr>
                      </a:br>
                      <a:endParaRPr sz="2000" u="none" cap="none" strike="noStrike">
                        <a:solidFill>
                          <a:srgbClr val="1F3A4E"/>
                        </a:solidFill>
                      </a:endParaRPr>
                    </a:p>
                  </a:txBody>
                  <a:tcPr marT="45725" marB="45725" marR="91450" marL="91450">
                    <a:solidFill>
                      <a:srgbClr val="010101"/>
                    </a:solidFill>
                  </a:tcPr>
                </a:tc>
                <a:tc>
                  <a:txBody>
                    <a:bodyPr/>
                    <a:lstStyle/>
                    <a:p>
                      <a:pPr indent="0" lvl="0" marL="0" marR="0" rtl="0" algn="l">
                        <a:lnSpc>
                          <a:spcPct val="100000"/>
                        </a:lnSpc>
                        <a:spcBef>
                          <a:spcPts val="0"/>
                        </a:spcBef>
                        <a:spcAft>
                          <a:spcPts val="0"/>
                        </a:spcAft>
                        <a:buClr>
                          <a:srgbClr val="FFC000"/>
                        </a:buClr>
                        <a:buSzPts val="2400"/>
                        <a:buFont typeface="Arial"/>
                        <a:buNone/>
                      </a:pPr>
                      <a:r>
                        <a:rPr b="1" lang="en-US" sz="2400" u="none" cap="none" strike="noStrike">
                          <a:solidFill>
                            <a:srgbClr val="FFC000"/>
                          </a:solidFill>
                          <a:latin typeface="Arial"/>
                          <a:ea typeface="Arial"/>
                          <a:cs typeface="Arial"/>
                          <a:sym typeface="Arial"/>
                        </a:rPr>
                        <a:t>Important: Check the template size</a:t>
                      </a:r>
                      <a:br>
                        <a:rPr b="0" lang="en-US" sz="2000" u="none" cap="none" strike="noStrike">
                          <a:solidFill>
                            <a:srgbClr val="FFC000"/>
                          </a:solidFill>
                          <a:latin typeface="Arial"/>
                          <a:ea typeface="Arial"/>
                          <a:cs typeface="Arial"/>
                          <a:sym typeface="Arial"/>
                        </a:rPr>
                      </a:br>
                      <a:r>
                        <a:rPr b="0" lang="en-US" sz="2000" u="none" cap="none" strike="noStrike">
                          <a:solidFill>
                            <a:srgbClr val="D9D9D9"/>
                          </a:solidFill>
                          <a:latin typeface="Arial"/>
                          <a:ea typeface="Arial"/>
                          <a:cs typeface="Arial"/>
                          <a:sym typeface="Arial"/>
                        </a:rPr>
                        <a:t>Before you start working on your poster and to avoid printing problems check that you have downloaded and that you are using the correct size template for your poster presentation.</a:t>
                      </a:r>
                      <a:br>
                        <a:rPr b="0" lang="en-US" sz="2000" u="none" cap="none" strike="noStrike">
                          <a:solidFill>
                            <a:srgbClr val="D9D9D9"/>
                          </a:solidFill>
                          <a:latin typeface="Arial"/>
                          <a:ea typeface="Arial"/>
                          <a:cs typeface="Arial"/>
                          <a:sym typeface="Arial"/>
                        </a:rPr>
                      </a:br>
                      <a:r>
                        <a:rPr b="0" lang="en-US" sz="2000" u="none" cap="none" strike="noStrike">
                          <a:solidFill>
                            <a:srgbClr val="D9D9D9"/>
                          </a:solidFill>
                          <a:latin typeface="Arial"/>
                          <a:ea typeface="Arial"/>
                          <a:cs typeface="Arial"/>
                          <a:sym typeface="Arial"/>
                        </a:rPr>
                        <a:t>This template can also be printed at the following sizes without distortion and without any additional formatting:</a:t>
                      </a:r>
                      <a:br>
                        <a:rPr b="0" lang="en-US" sz="2000" u="none" cap="none" strike="noStrike">
                          <a:solidFill>
                            <a:srgbClr val="D9D9D9"/>
                          </a:solidFill>
                          <a:latin typeface="Arial"/>
                          <a:ea typeface="Arial"/>
                          <a:cs typeface="Arial"/>
                          <a:sym typeface="Arial"/>
                        </a:rPr>
                      </a:br>
                      <a:r>
                        <a:rPr b="0" lang="en-US" sz="2000" u="none" cap="none" strike="noStrike">
                          <a:solidFill>
                            <a:srgbClr val="FFC000"/>
                          </a:solidFill>
                          <a:latin typeface="Arial"/>
                          <a:ea typeface="Arial"/>
                          <a:cs typeface="Arial"/>
                          <a:sym typeface="Arial"/>
                        </a:rPr>
                        <a:t>30 tall x 40 wide</a:t>
                      </a:r>
                      <a:br>
                        <a:rPr b="0" lang="en-US" sz="2000" u="none" cap="none" strike="noStrike">
                          <a:solidFill>
                            <a:srgbClr val="FFC000"/>
                          </a:solidFill>
                          <a:latin typeface="Arial"/>
                          <a:ea typeface="Arial"/>
                          <a:cs typeface="Arial"/>
                          <a:sym typeface="Arial"/>
                        </a:rPr>
                      </a:br>
                      <a:r>
                        <a:rPr b="0" lang="en-US" sz="2000" u="none" cap="none" strike="noStrike">
                          <a:solidFill>
                            <a:srgbClr val="FFC000"/>
                          </a:solidFill>
                          <a:latin typeface="Arial"/>
                          <a:ea typeface="Arial"/>
                          <a:cs typeface="Arial"/>
                          <a:sym typeface="Arial"/>
                        </a:rPr>
                        <a:t>42 tall x 56 wide</a:t>
                      </a:r>
                      <a:br>
                        <a:rPr b="0" lang="en-US" sz="2000" u="none" cap="none" strike="noStrike">
                          <a:solidFill>
                            <a:srgbClr val="FFC000"/>
                          </a:solidFill>
                          <a:latin typeface="Arial"/>
                          <a:ea typeface="Arial"/>
                          <a:cs typeface="Arial"/>
                          <a:sym typeface="Arial"/>
                        </a:rPr>
                      </a:br>
                      <a:r>
                        <a:rPr b="0" lang="en-US" sz="2000" u="none" cap="none" strike="noStrike">
                          <a:solidFill>
                            <a:srgbClr val="FFC000"/>
                          </a:solidFill>
                          <a:latin typeface="Arial"/>
                          <a:ea typeface="Arial"/>
                          <a:cs typeface="Arial"/>
                          <a:sym typeface="Arial"/>
                        </a:rPr>
                        <a:t>48 tall x 64 wide</a:t>
                      </a:r>
                      <a:endParaRPr/>
                    </a:p>
                  </a:txBody>
                  <a:tcPr marT="137150" marB="45725" marR="91450" marL="182875">
                    <a:solidFill>
                      <a:srgbClr val="010101"/>
                    </a:solidFill>
                  </a:tcPr>
                </a:tc>
              </a:tr>
              <a:tr h="4288700">
                <a:tc>
                  <a:txBody>
                    <a:bodyPr/>
                    <a:lstStyle/>
                    <a:p>
                      <a:pPr indent="0" lvl="0" marL="0" marR="0" rtl="0" algn="l">
                        <a:spcBef>
                          <a:spcPts val="0"/>
                        </a:spcBef>
                        <a:spcAft>
                          <a:spcPts val="0"/>
                        </a:spcAft>
                        <a:buNone/>
                      </a:pPr>
                      <a:r>
                        <a:t/>
                      </a:r>
                      <a:endParaRPr sz="2000">
                        <a:solidFill>
                          <a:srgbClr val="1F3A4E"/>
                        </a:solidFill>
                      </a:endParaRPr>
                    </a:p>
                  </a:txBody>
                  <a:tcPr marT="45725" marB="45725" marR="91450" marL="91450"/>
                </a:tc>
                <a:tc>
                  <a:txBody>
                    <a:bodyPr/>
                    <a:lstStyle/>
                    <a:p>
                      <a:pPr indent="0" lvl="0" marL="0" marR="0" rtl="0" algn="l">
                        <a:spcBef>
                          <a:spcPts val="0"/>
                        </a:spcBef>
                        <a:spcAft>
                          <a:spcPts val="0"/>
                        </a:spcAft>
                        <a:buNone/>
                      </a:pPr>
                      <a:r>
                        <a:rPr b="1" lang="en-US" sz="2400">
                          <a:solidFill>
                            <a:srgbClr val="FFC000"/>
                          </a:solidFill>
                          <a:latin typeface="Arial"/>
                          <a:ea typeface="Arial"/>
                          <a:cs typeface="Arial"/>
                          <a:sym typeface="Arial"/>
                        </a:rPr>
                        <a:t>How to </a:t>
                      </a:r>
                      <a:r>
                        <a:rPr b="1" lang="en-US" sz="4000">
                          <a:solidFill>
                            <a:srgbClr val="FFC000"/>
                          </a:solidFill>
                          <a:latin typeface="Arial"/>
                          <a:ea typeface="Arial"/>
                          <a:cs typeface="Arial"/>
                          <a:sym typeface="Arial"/>
                        </a:rPr>
                        <a:t>Zoom in </a:t>
                      </a:r>
                      <a:r>
                        <a:rPr b="1" lang="en-US" sz="2400">
                          <a:solidFill>
                            <a:srgbClr val="FFC000"/>
                          </a:solidFill>
                          <a:latin typeface="Arial"/>
                          <a:ea typeface="Arial"/>
                          <a:cs typeface="Arial"/>
                          <a:sym typeface="Arial"/>
                        </a:rPr>
                        <a:t>and </a:t>
                      </a:r>
                      <a:r>
                        <a:rPr b="1" lang="en-US" sz="1800">
                          <a:solidFill>
                            <a:srgbClr val="FFC000"/>
                          </a:solidFill>
                          <a:latin typeface="Arial"/>
                          <a:ea typeface="Arial"/>
                          <a:cs typeface="Arial"/>
                          <a:sym typeface="Arial"/>
                        </a:rPr>
                        <a:t>out</a:t>
                      </a:r>
                      <a:endParaRPr b="1" sz="2400">
                        <a:solidFill>
                          <a:srgbClr val="FFC000"/>
                        </a:solidFill>
                        <a:latin typeface="Arial"/>
                        <a:ea typeface="Arial"/>
                        <a:cs typeface="Arial"/>
                        <a:sym typeface="Arial"/>
                      </a:endParaRPr>
                    </a:p>
                    <a:p>
                      <a:pPr indent="0" lvl="0" marL="0" marR="0" rtl="0" algn="l">
                        <a:spcBef>
                          <a:spcPts val="0"/>
                        </a:spcBef>
                        <a:spcAft>
                          <a:spcPts val="0"/>
                        </a:spcAft>
                        <a:buNone/>
                      </a:pPr>
                      <a:r>
                        <a:rPr b="0" lang="en-US" sz="2000">
                          <a:solidFill>
                            <a:srgbClr val="D9D9D9"/>
                          </a:solidFill>
                          <a:latin typeface="Arial"/>
                          <a:ea typeface="Arial"/>
                          <a:cs typeface="Arial"/>
                          <a:sym typeface="Arial"/>
                        </a:rPr>
                        <a:t>Use the PowerPoint zoom tool to adjust the screen magnification to view comfortably. PowerPoint provides 2 ways to zoom: </a:t>
                      </a:r>
                      <a:br>
                        <a:rPr b="0" lang="en-US" sz="2000">
                          <a:solidFill>
                            <a:srgbClr val="D9D9D9"/>
                          </a:solidFill>
                          <a:latin typeface="Arial"/>
                          <a:ea typeface="Arial"/>
                          <a:cs typeface="Arial"/>
                          <a:sym typeface="Arial"/>
                        </a:rPr>
                      </a:br>
                      <a:r>
                        <a:rPr b="0" lang="en-US" sz="2000">
                          <a:solidFill>
                            <a:srgbClr val="FFC000"/>
                          </a:solidFill>
                          <a:latin typeface="Arial"/>
                          <a:ea typeface="Arial"/>
                          <a:cs typeface="Arial"/>
                          <a:sym typeface="Arial"/>
                        </a:rPr>
                        <a:t>1. </a:t>
                      </a:r>
                      <a:r>
                        <a:rPr b="0" lang="en-US" sz="2000">
                          <a:solidFill>
                            <a:srgbClr val="D9D9D9"/>
                          </a:solidFill>
                          <a:latin typeface="Arial"/>
                          <a:ea typeface="Arial"/>
                          <a:cs typeface="Arial"/>
                          <a:sym typeface="Arial"/>
                        </a:rPr>
                        <a:t>On the top menu bar click on the VIEW tab and then click on ZOOM. Choose the zoom percentage that works best for you. </a:t>
                      </a:r>
                      <a:br>
                        <a:rPr b="0" lang="en-US" sz="2000">
                          <a:solidFill>
                            <a:srgbClr val="D9D9D9"/>
                          </a:solidFill>
                          <a:latin typeface="Arial"/>
                          <a:ea typeface="Arial"/>
                          <a:cs typeface="Arial"/>
                          <a:sym typeface="Arial"/>
                        </a:rPr>
                      </a:br>
                      <a:r>
                        <a:rPr b="0" lang="en-US" sz="2000">
                          <a:solidFill>
                            <a:srgbClr val="FFC000"/>
                          </a:solidFill>
                          <a:latin typeface="Arial"/>
                          <a:ea typeface="Arial"/>
                          <a:cs typeface="Arial"/>
                          <a:sym typeface="Arial"/>
                        </a:rPr>
                        <a:t>2. </a:t>
                      </a:r>
                      <a:r>
                        <a:rPr b="0" lang="en-US" sz="2000">
                          <a:solidFill>
                            <a:srgbClr val="D9D9D9"/>
                          </a:solidFill>
                          <a:latin typeface="Arial"/>
                          <a:ea typeface="Arial"/>
                          <a:cs typeface="Arial"/>
                          <a:sym typeface="Arial"/>
                        </a:rPr>
                        <a:t>For better zoom flexibility, use the zoom slider at the bottom right of the window.</a:t>
                      </a:r>
                      <a:endParaRPr/>
                    </a:p>
                  </a:txBody>
                  <a:tcPr marT="137150" marB="45725" marR="91450" marL="182875">
                    <a:solidFill>
                      <a:srgbClr val="010101"/>
                    </a:solidFill>
                  </a:tcPr>
                </a:tc>
              </a:tr>
              <a:tr h="1800525">
                <a:tc gridSpan="2">
                  <a:txBody>
                    <a:bodyPr/>
                    <a:lstStyle/>
                    <a:p>
                      <a:pPr indent="0" lvl="0" marL="0" marR="0" rtl="0" algn="l">
                        <a:lnSpc>
                          <a:spcPct val="100000"/>
                        </a:lnSpc>
                        <a:spcBef>
                          <a:spcPts val="0"/>
                        </a:spcBef>
                        <a:spcAft>
                          <a:spcPts val="0"/>
                        </a:spcAft>
                        <a:buClr>
                          <a:srgbClr val="FFC000"/>
                        </a:buClr>
                        <a:buSzPts val="2400"/>
                        <a:buFont typeface="Arial"/>
                        <a:buNone/>
                      </a:pPr>
                      <a:r>
                        <a:rPr b="1" lang="en-US" sz="2400">
                          <a:solidFill>
                            <a:srgbClr val="FFC000"/>
                          </a:solidFill>
                          <a:latin typeface="Arial"/>
                          <a:ea typeface="Arial"/>
                          <a:cs typeface="Arial"/>
                          <a:sym typeface="Arial"/>
                        </a:rPr>
                        <a:t>Ruler and Guides</a:t>
                      </a:r>
                      <a:br>
                        <a:rPr b="0" lang="en-US" sz="2000">
                          <a:solidFill>
                            <a:srgbClr val="FFC000"/>
                          </a:solidFill>
                          <a:latin typeface="Arial"/>
                          <a:ea typeface="Arial"/>
                          <a:cs typeface="Arial"/>
                          <a:sym typeface="Arial"/>
                        </a:rPr>
                      </a:br>
                      <a:r>
                        <a:rPr b="0" lang="en-US" sz="2000">
                          <a:solidFill>
                            <a:srgbClr val="D9D9D9"/>
                          </a:solidFill>
                          <a:latin typeface="Arial"/>
                          <a:ea typeface="Arial"/>
                          <a:cs typeface="Arial"/>
                          <a:sym typeface="Arial"/>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endParaRPr/>
                    </a:p>
                  </a:txBody>
                  <a:tcPr marT="45725" marB="45725" marR="91450" marL="91450">
                    <a:solidFill>
                      <a:srgbClr val="010101"/>
                    </a:solidFill>
                  </a:tcPr>
                </a:tc>
                <a:tc hMerge="1"/>
              </a:tr>
              <a:tr h="3824350">
                <a:tc>
                  <a:txBody>
                    <a:bodyPr/>
                    <a:lstStyle/>
                    <a:p>
                      <a:pPr indent="0" lvl="0" marL="0" marR="0" rtl="0" algn="l">
                        <a:spcBef>
                          <a:spcPts val="0"/>
                        </a:spcBef>
                        <a:spcAft>
                          <a:spcPts val="0"/>
                        </a:spcAft>
                        <a:buNone/>
                      </a:pPr>
                      <a:r>
                        <a:t/>
                      </a:r>
                      <a:endParaRPr sz="2000">
                        <a:solidFill>
                          <a:srgbClr val="1F3A4E"/>
                        </a:solidFill>
                      </a:endParaRPr>
                    </a:p>
                  </a:txBody>
                  <a:tcPr marT="45725" marB="45725" marR="91450" marL="91450"/>
                </a:tc>
                <a:tc>
                  <a:txBody>
                    <a:bodyPr/>
                    <a:lstStyle/>
                    <a:p>
                      <a:pPr indent="0" lvl="1" marL="0" marR="0" rtl="0" algn="l">
                        <a:spcBef>
                          <a:spcPts val="0"/>
                        </a:spcBef>
                        <a:spcAft>
                          <a:spcPts val="0"/>
                        </a:spcAft>
                        <a:buNone/>
                      </a:pPr>
                      <a:r>
                        <a:rPr b="1" lang="en-US" sz="2400" u="none" cap="none" strike="noStrike">
                          <a:solidFill>
                            <a:srgbClr val="FFC000"/>
                          </a:solidFill>
                          <a:latin typeface="Arial"/>
                          <a:ea typeface="Arial"/>
                          <a:cs typeface="Arial"/>
                          <a:sym typeface="Arial"/>
                        </a:rPr>
                        <a:t>Headers and text containers</a:t>
                      </a:r>
                      <a:br>
                        <a:rPr b="0" lang="en-US" sz="2000" u="none" cap="none" strike="noStrike">
                          <a:solidFill>
                            <a:schemeClr val="lt1"/>
                          </a:solidFill>
                          <a:latin typeface="Arial"/>
                          <a:ea typeface="Arial"/>
                          <a:cs typeface="Arial"/>
                          <a:sym typeface="Arial"/>
                        </a:rPr>
                      </a:br>
                      <a:r>
                        <a:rPr b="0" lang="en-US" sz="2000" u="none" cap="none" strike="noStrike">
                          <a:solidFill>
                            <a:srgbClr val="D9D9D9"/>
                          </a:solidFill>
                          <a:latin typeface="Arial"/>
                          <a:ea typeface="Arial"/>
                          <a:cs typeface="Arial"/>
                          <a:sym typeface="Arial"/>
                        </a:rPr>
                        <a:t>Included in this template are commonly used section headers such as Abstract, Objectives, Methods, Results, etc. </a:t>
                      </a:r>
                      <a:br>
                        <a:rPr b="0" lang="en-US" sz="2000" u="none" cap="none" strike="noStrike">
                          <a:solidFill>
                            <a:schemeClr val="lt1"/>
                          </a:solidFill>
                          <a:latin typeface="Arial"/>
                          <a:ea typeface="Arial"/>
                          <a:cs typeface="Arial"/>
                          <a:sym typeface="Arial"/>
                        </a:rPr>
                      </a:br>
                      <a:r>
                        <a:rPr b="0" lang="en-US" sz="2000" u="none" cap="none" strike="noStrike">
                          <a:solidFill>
                            <a:srgbClr val="FFC000"/>
                          </a:solidFill>
                          <a:latin typeface="Arial"/>
                          <a:ea typeface="Arial"/>
                          <a:cs typeface="Arial"/>
                          <a:sym typeface="Arial"/>
                        </a:rPr>
                        <a:t>-</a:t>
                      </a:r>
                      <a:r>
                        <a:rPr b="0" lang="en-US" sz="2000" u="none" cap="none" strike="noStrike">
                          <a:solidFill>
                            <a:schemeClr val="lt1"/>
                          </a:solidFill>
                          <a:latin typeface="Arial"/>
                          <a:ea typeface="Arial"/>
                          <a:cs typeface="Arial"/>
                          <a:sym typeface="Arial"/>
                        </a:rPr>
                        <a:t> </a:t>
                      </a:r>
                      <a:r>
                        <a:rPr b="0" lang="en-US" sz="2000" u="none" cap="none" strike="noStrike">
                          <a:solidFill>
                            <a:srgbClr val="D9D9D9"/>
                          </a:solidFill>
                          <a:latin typeface="Arial"/>
                          <a:ea typeface="Arial"/>
                          <a:cs typeface="Arial"/>
                          <a:sym typeface="Arial"/>
                        </a:rPr>
                        <a:t>Click inside a section header to add its text. </a:t>
                      </a:r>
                      <a:br>
                        <a:rPr b="0" lang="en-US" sz="2000" u="none" cap="none" strike="noStrike">
                          <a:solidFill>
                            <a:schemeClr val="lt1"/>
                          </a:solidFill>
                          <a:latin typeface="Arial"/>
                          <a:ea typeface="Arial"/>
                          <a:cs typeface="Arial"/>
                          <a:sym typeface="Arial"/>
                        </a:rPr>
                      </a:br>
                      <a:r>
                        <a:rPr b="0" lang="en-US" sz="2000" u="none" cap="none" strike="noStrike">
                          <a:solidFill>
                            <a:srgbClr val="FFC000"/>
                          </a:solidFill>
                          <a:latin typeface="Arial"/>
                          <a:ea typeface="Arial"/>
                          <a:cs typeface="Arial"/>
                          <a:sym typeface="Arial"/>
                        </a:rPr>
                        <a:t>-</a:t>
                      </a:r>
                      <a:r>
                        <a:rPr b="0" lang="en-US" sz="2000" u="none" cap="none" strike="noStrike">
                          <a:solidFill>
                            <a:schemeClr val="lt1"/>
                          </a:solidFill>
                          <a:latin typeface="Arial"/>
                          <a:ea typeface="Arial"/>
                          <a:cs typeface="Arial"/>
                          <a:sym typeface="Arial"/>
                        </a:rPr>
                        <a:t> </a:t>
                      </a:r>
                      <a:r>
                        <a:rPr b="0" lang="en-US" sz="2000" u="none" cap="none" strike="noStrike">
                          <a:solidFill>
                            <a:srgbClr val="D9D9D9"/>
                          </a:solidFill>
                          <a:latin typeface="Arial"/>
                          <a:ea typeface="Arial"/>
                          <a:cs typeface="Arial"/>
                          <a:sym typeface="Arial"/>
                        </a:rPr>
                        <a:t>To add another header, click on edge of the section box so that it is outlined. Copy and paste it. </a:t>
                      </a:r>
                      <a:br>
                        <a:rPr b="0" lang="en-US" sz="2000" u="none" cap="none" strike="noStrike">
                          <a:solidFill>
                            <a:schemeClr val="lt1"/>
                          </a:solidFill>
                          <a:latin typeface="Arial"/>
                          <a:ea typeface="Arial"/>
                          <a:cs typeface="Arial"/>
                          <a:sym typeface="Arial"/>
                        </a:rPr>
                      </a:br>
                      <a:r>
                        <a:rPr b="0" lang="en-US" sz="2000" u="none" cap="none" strike="noStrike">
                          <a:solidFill>
                            <a:srgbClr val="FFC000"/>
                          </a:solidFill>
                          <a:latin typeface="Arial"/>
                          <a:ea typeface="Arial"/>
                          <a:cs typeface="Arial"/>
                          <a:sym typeface="Arial"/>
                        </a:rPr>
                        <a:t>-</a:t>
                      </a:r>
                      <a:r>
                        <a:rPr b="0" lang="en-US" sz="2000" u="none" cap="none" strike="noStrike">
                          <a:solidFill>
                            <a:schemeClr val="lt1"/>
                          </a:solidFill>
                          <a:latin typeface="Arial"/>
                          <a:ea typeface="Arial"/>
                          <a:cs typeface="Arial"/>
                          <a:sym typeface="Arial"/>
                        </a:rPr>
                        <a:t> </a:t>
                      </a:r>
                      <a:r>
                        <a:rPr b="0" lang="en-US" sz="2000" u="none" cap="none" strike="noStrike">
                          <a:solidFill>
                            <a:srgbClr val="D9D9D9"/>
                          </a:solidFill>
                          <a:latin typeface="Arial"/>
                          <a:ea typeface="Arial"/>
                          <a:cs typeface="Arial"/>
                          <a:sym typeface="Arial"/>
                        </a:rPr>
                        <a:t>To increase its size, click on the white circles and expand to the the desired size.</a:t>
                      </a:r>
                      <a:endParaRPr/>
                    </a:p>
                  </a:txBody>
                  <a:tcPr marT="137150" marB="45725" marR="91450" marL="182875">
                    <a:solidFill>
                      <a:srgbClr val="010101"/>
                    </a:solidFill>
                  </a:tcPr>
                </a:tc>
              </a:tr>
              <a:tr h="3519125">
                <a:tc gridSpan="2">
                  <a:txBody>
                    <a:bodyPr/>
                    <a:lstStyle/>
                    <a:p>
                      <a:pPr indent="0" lvl="0" marL="0" marR="0" rtl="0" algn="l">
                        <a:spcBef>
                          <a:spcPts val="0"/>
                        </a:spcBef>
                        <a:spcAft>
                          <a:spcPts val="0"/>
                        </a:spcAft>
                        <a:buNone/>
                      </a:pPr>
                      <a:r>
                        <a:rPr b="1" lang="en-US" sz="2400">
                          <a:solidFill>
                            <a:srgbClr val="FFC000"/>
                          </a:solidFill>
                          <a:latin typeface="Arial"/>
                          <a:ea typeface="Arial"/>
                          <a:cs typeface="Arial"/>
                          <a:sym typeface="Arial"/>
                        </a:rPr>
                        <a:t>Adding content to the poster</a:t>
                      </a:r>
                      <a:endParaRPr/>
                    </a:p>
                    <a:p>
                      <a:pPr indent="0" lvl="0" marL="0" marR="0" rtl="0" algn="l">
                        <a:spcBef>
                          <a:spcPts val="0"/>
                        </a:spcBef>
                        <a:spcAft>
                          <a:spcPts val="0"/>
                        </a:spcAft>
                        <a:buNone/>
                      </a:pPr>
                      <a:r>
                        <a:rPr lang="en-US" sz="2000">
                          <a:solidFill>
                            <a:srgbClr val="D9D9D9"/>
                          </a:solidFill>
                          <a:latin typeface="Arial"/>
                          <a:ea typeface="Arial"/>
                          <a:cs typeface="Arial"/>
                          <a:sym typeface="Arial"/>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endParaRPr/>
                    </a:p>
                    <a:p>
                      <a:pPr indent="-342900" lvl="0" marL="342900" marR="0" rtl="0" algn="l">
                        <a:spcBef>
                          <a:spcPts val="0"/>
                        </a:spcBef>
                        <a:spcAft>
                          <a:spcPts val="0"/>
                        </a:spcAft>
                        <a:buClr>
                          <a:srgbClr val="D9D9D9"/>
                        </a:buClr>
                        <a:buSzPts val="2000"/>
                        <a:buFont typeface="Arial"/>
                        <a:buChar char="-"/>
                      </a:pPr>
                      <a:r>
                        <a:rPr lang="en-US" sz="2000">
                          <a:solidFill>
                            <a:srgbClr val="D9D9D9"/>
                          </a:solidFill>
                          <a:latin typeface="Arial"/>
                          <a:ea typeface="Arial"/>
                          <a:cs typeface="Arial"/>
                          <a:sym typeface="Arial"/>
                        </a:rPr>
                        <a:t>If you run out of room, try to reduce the size of your fonts and/or the size of your graphics. If there is a lot of empty space try to increase your font sizes and the size of your graphics. The font used for references can be smaller.</a:t>
                      </a:r>
                      <a:endParaRPr sz="2000">
                        <a:solidFill>
                          <a:srgbClr val="D9D9D9"/>
                        </a:solidFill>
                        <a:latin typeface="Arial"/>
                        <a:ea typeface="Arial"/>
                        <a:cs typeface="Arial"/>
                        <a:sym typeface="Arial"/>
                      </a:endParaRPr>
                    </a:p>
                  </a:txBody>
                  <a:tcPr marT="45725" marB="45725" marR="91450" marL="91450">
                    <a:solidFill>
                      <a:srgbClr val="010101"/>
                    </a:solidFill>
                  </a:tcPr>
                </a:tc>
                <a:tc hMerge="1"/>
              </a:tr>
              <a:tr h="2377650">
                <a:tc gridSpan="2">
                  <a:txBody>
                    <a:bodyPr/>
                    <a:lstStyle/>
                    <a:p>
                      <a:pPr indent="0" lvl="0" marL="0" marR="0" rtl="0" algn="l">
                        <a:lnSpc>
                          <a:spcPct val="100000"/>
                        </a:lnSpc>
                        <a:spcBef>
                          <a:spcPts val="0"/>
                        </a:spcBef>
                        <a:spcAft>
                          <a:spcPts val="0"/>
                        </a:spcAft>
                        <a:buClr>
                          <a:srgbClr val="FFC000"/>
                        </a:buClr>
                        <a:buSzPts val="2400"/>
                        <a:buFont typeface="Arial"/>
                        <a:buNone/>
                      </a:pPr>
                      <a:r>
                        <a:rPr b="1" lang="en-US" sz="2400">
                          <a:solidFill>
                            <a:srgbClr val="FFC000"/>
                          </a:solidFill>
                          <a:latin typeface="Arial"/>
                          <a:ea typeface="Arial"/>
                          <a:cs typeface="Arial"/>
                          <a:sym typeface="Arial"/>
                        </a:rPr>
                        <a:t>Photos</a:t>
                      </a:r>
                      <a:endParaRPr/>
                    </a:p>
                    <a:p>
                      <a:pPr indent="0" lvl="0" marL="0" marR="0" rtl="0" algn="l">
                        <a:lnSpc>
                          <a:spcPct val="100000"/>
                        </a:lnSpc>
                        <a:spcBef>
                          <a:spcPts val="0"/>
                        </a:spcBef>
                        <a:spcAft>
                          <a:spcPts val="0"/>
                        </a:spcAft>
                        <a:buClr>
                          <a:srgbClr val="D9D9D9"/>
                        </a:buClr>
                        <a:buSzPts val="2000"/>
                        <a:buFont typeface="Arial"/>
                        <a:buNone/>
                      </a:pPr>
                      <a:r>
                        <a:rPr b="0" i="0" lang="en-US" sz="2000" u="none" cap="none" strike="noStrike">
                          <a:solidFill>
                            <a:srgbClr val="D9D9D9"/>
                          </a:solidFill>
                          <a:latin typeface="Arial"/>
                          <a:ea typeface="Arial"/>
                          <a:cs typeface="Arial"/>
                          <a:sym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endParaRPr/>
                    </a:p>
                  </a:txBody>
                  <a:tcPr marT="137150" marB="45725" marR="91450" marL="182875">
                    <a:solidFill>
                      <a:srgbClr val="010101"/>
                    </a:solidFill>
                  </a:tcPr>
                </a:tc>
                <a:tc hMerge="1"/>
              </a:tr>
              <a:tr h="2293175">
                <a:tc gridSpan="2">
                  <a:txBody>
                    <a:bodyPr/>
                    <a:lstStyle/>
                    <a:p>
                      <a:pPr indent="0" lvl="0" marL="0" marR="0" rtl="0" algn="l">
                        <a:spcBef>
                          <a:spcPts val="0"/>
                        </a:spcBef>
                        <a:spcAft>
                          <a:spcPts val="0"/>
                        </a:spcAft>
                        <a:buNone/>
                      </a:pPr>
                      <a:r>
                        <a:t/>
                      </a:r>
                      <a:endParaRPr sz="2000">
                        <a:solidFill>
                          <a:schemeClr val="lt1"/>
                        </a:solidFill>
                        <a:latin typeface="Arial"/>
                        <a:ea typeface="Arial"/>
                        <a:cs typeface="Arial"/>
                        <a:sym typeface="Arial"/>
                      </a:endParaRPr>
                    </a:p>
                  </a:txBody>
                  <a:tcPr marT="137150" marB="45725" marR="91450" marL="182875"/>
                </a:tc>
                <a:tc hMerge="1"/>
              </a:tr>
              <a:tr h="1280275">
                <a:tc gridSpan="2">
                  <a:txBody>
                    <a:bodyPr/>
                    <a:lstStyle/>
                    <a:p>
                      <a:pPr indent="0" lvl="0" marL="0" marR="0" rtl="0" algn="l">
                        <a:lnSpc>
                          <a:spcPct val="100000"/>
                        </a:lnSpc>
                        <a:spcBef>
                          <a:spcPts val="0"/>
                        </a:spcBef>
                        <a:spcAft>
                          <a:spcPts val="0"/>
                        </a:spcAft>
                        <a:buClr>
                          <a:srgbClr val="FFC000"/>
                        </a:buClr>
                        <a:buSzPts val="2400"/>
                        <a:buFont typeface="Arial"/>
                        <a:buNone/>
                      </a:pPr>
                      <a:r>
                        <a:rPr b="1" lang="en-US" sz="2400">
                          <a:solidFill>
                            <a:srgbClr val="FFC000"/>
                          </a:solidFill>
                          <a:latin typeface="Arial"/>
                          <a:ea typeface="Arial"/>
                          <a:cs typeface="Arial"/>
                          <a:sym typeface="Arial"/>
                        </a:rPr>
                        <a:t>Quality check your graphics</a:t>
                      </a:r>
                      <a:endParaRPr/>
                    </a:p>
                    <a:p>
                      <a:pPr indent="0" lvl="0" marL="0" marR="0" rtl="0" algn="l">
                        <a:lnSpc>
                          <a:spcPct val="100000"/>
                        </a:lnSpc>
                        <a:spcBef>
                          <a:spcPts val="0"/>
                        </a:spcBef>
                        <a:spcAft>
                          <a:spcPts val="0"/>
                        </a:spcAft>
                        <a:buClr>
                          <a:srgbClr val="D9D9D9"/>
                        </a:buClr>
                        <a:buSzPts val="2000"/>
                        <a:buFont typeface="Arial"/>
                        <a:buNone/>
                      </a:pPr>
                      <a:r>
                        <a:rPr lang="en-US" sz="2000">
                          <a:solidFill>
                            <a:srgbClr val="D9D9D9"/>
                          </a:solidFill>
                          <a:latin typeface="Arial"/>
                          <a:ea typeface="Arial"/>
                          <a:cs typeface="Arial"/>
                          <a:sym typeface="Arial"/>
                        </a:rPr>
                        <a:t>Zoom in and look at your images at 100%-200% magnification. If they look clear, they will print well. </a:t>
                      </a:r>
                      <a:endParaRPr/>
                    </a:p>
                  </a:txBody>
                  <a:tcPr marT="137150" marB="45725" marR="91450" marL="182875">
                    <a:solidFill>
                      <a:srgbClr val="010101"/>
                    </a:solidFill>
                  </a:tcPr>
                </a:tc>
                <a:tc hMerge="1"/>
              </a:tr>
              <a:tr h="3187275">
                <a:tc gridSpan="2">
                  <a:txBody>
                    <a:bodyPr/>
                    <a:lstStyle/>
                    <a:p>
                      <a:pPr indent="0" lvl="0" marL="0" marR="0" rtl="0" algn="l">
                        <a:lnSpc>
                          <a:spcPct val="100000"/>
                        </a:lnSpc>
                        <a:spcBef>
                          <a:spcPts val="0"/>
                        </a:spcBef>
                        <a:spcAft>
                          <a:spcPts val="0"/>
                        </a:spcAft>
                        <a:buClr>
                          <a:schemeClr val="dk1"/>
                        </a:buClr>
                        <a:buSzPts val="2000"/>
                        <a:buFont typeface="Calibri"/>
                        <a:buNone/>
                      </a:pPr>
                      <a:r>
                        <a:t/>
                      </a:r>
                      <a:endParaRPr sz="2000">
                        <a:solidFill>
                          <a:schemeClr val="lt1"/>
                        </a:solidFill>
                        <a:latin typeface="Arial"/>
                        <a:ea typeface="Arial"/>
                        <a:cs typeface="Arial"/>
                        <a:sym typeface="Arial"/>
                      </a:endParaRPr>
                    </a:p>
                  </a:txBody>
                  <a:tcPr marT="137150" marB="45725" marR="91450" marL="182875"/>
                </a:tc>
                <a:tc hMerge="1"/>
              </a:tr>
            </a:tbl>
          </a:graphicData>
        </a:graphic>
      </p:graphicFrame>
      <p:graphicFrame>
        <p:nvGraphicFramePr>
          <p:cNvPr id="12" name="Google Shape;12;p2"/>
          <p:cNvGraphicFramePr/>
          <p:nvPr/>
        </p:nvGraphicFramePr>
        <p:xfrm>
          <a:off x="44695229" y="-84749"/>
          <a:ext cx="3000000" cy="3000000"/>
        </p:xfrm>
        <a:graphic>
          <a:graphicData uri="http://schemas.openxmlformats.org/drawingml/2006/table">
            <a:tbl>
              <a:tblPr bandRow="1" firstRow="1">
                <a:noFill/>
                <a:tableStyleId>{36B4EF38-2129-4F2A-A8C0-1B8BAF3392DA}</a:tableStyleId>
              </a:tblPr>
              <a:tblGrid>
                <a:gridCol w="3343825"/>
                <a:gridCol w="1381550"/>
                <a:gridCol w="4704800"/>
              </a:tblGrid>
              <a:tr h="1756425">
                <a:tc gridSpan="3">
                  <a:txBody>
                    <a:bodyPr/>
                    <a:lstStyle/>
                    <a:p>
                      <a:pPr indent="0" lvl="0" marL="0" marR="0" rtl="0" algn="ctr">
                        <a:lnSpc>
                          <a:spcPct val="100000"/>
                        </a:lnSpc>
                        <a:spcBef>
                          <a:spcPts val="0"/>
                        </a:spcBef>
                        <a:spcAft>
                          <a:spcPts val="0"/>
                        </a:spcAft>
                        <a:buClr>
                          <a:srgbClr val="1F3A4E"/>
                        </a:buClr>
                        <a:buSzPts val="4000"/>
                        <a:buFont typeface="Arial Black"/>
                        <a:buNone/>
                      </a:pPr>
                      <a:r>
                        <a:rPr b="0" lang="en-US" sz="4000">
                          <a:solidFill>
                            <a:srgbClr val="1F3A4E"/>
                          </a:solidFill>
                          <a:latin typeface="Arial Black"/>
                          <a:ea typeface="Arial Black"/>
                          <a:cs typeface="Arial Black"/>
                          <a:sym typeface="Arial Black"/>
                        </a:rPr>
                        <a:t>QUICK START GUIDE</a:t>
                      </a:r>
                      <a:br>
                        <a:rPr b="0" lang="en-US" sz="4000">
                          <a:solidFill>
                            <a:srgbClr val="1F3A4E"/>
                          </a:solidFill>
                          <a:latin typeface="Arial Black"/>
                          <a:ea typeface="Arial Black"/>
                          <a:cs typeface="Arial Black"/>
                          <a:sym typeface="Arial Black"/>
                        </a:rPr>
                      </a:br>
                      <a:r>
                        <a:rPr b="1" lang="en-US" sz="3200">
                          <a:solidFill>
                            <a:srgbClr val="FF0000"/>
                          </a:solidFill>
                          <a:latin typeface="Trebuchet MS"/>
                          <a:ea typeface="Trebuchet MS"/>
                          <a:cs typeface="Trebuchet MS"/>
                          <a:sym typeface="Trebuchet MS"/>
                        </a:rPr>
                        <a:t>(THIS SIDEBAR WILL NOT PRINT)</a:t>
                      </a:r>
                      <a:endParaRPr b="1" sz="4000">
                        <a:solidFill>
                          <a:schemeClr val="lt1"/>
                        </a:solidFill>
                        <a:latin typeface="Trebuchet MS"/>
                        <a:ea typeface="Trebuchet MS"/>
                        <a:cs typeface="Trebuchet MS"/>
                        <a:sym typeface="Trebuchet MS"/>
                      </a:endParaRPr>
                    </a:p>
                  </a:txBody>
                  <a:tcPr marT="137150" marB="45725" marR="91450" marL="182875">
                    <a:solidFill>
                      <a:srgbClr val="FFC000"/>
                    </a:solidFill>
                  </a:tcPr>
                </a:tc>
                <a:tc hMerge="1"/>
                <a:tc hMerge="1"/>
              </a:tr>
              <a:tr h="5563100">
                <a:tc gridSpan="3">
                  <a:txBody>
                    <a:bodyPr/>
                    <a:lstStyle/>
                    <a:p>
                      <a:pPr indent="0" lvl="0" marL="0" marR="0" rtl="0" algn="l">
                        <a:spcBef>
                          <a:spcPts val="0"/>
                        </a:spcBef>
                        <a:spcAft>
                          <a:spcPts val="0"/>
                        </a:spcAft>
                        <a:buNone/>
                      </a:pPr>
                      <a:r>
                        <a:rPr b="1" lang="en-US" sz="2800">
                          <a:solidFill>
                            <a:srgbClr val="FFC000"/>
                          </a:solidFill>
                          <a:latin typeface="Arial"/>
                          <a:ea typeface="Arial"/>
                          <a:cs typeface="Arial"/>
                          <a:sym typeface="Arial"/>
                        </a:rPr>
                        <a:t>How to change the template colors</a:t>
                      </a:r>
                      <a:endParaRPr/>
                    </a:p>
                    <a:p>
                      <a:pPr indent="0" lvl="0" marL="0" marR="0" rtl="0" algn="l">
                        <a:spcBef>
                          <a:spcPts val="0"/>
                        </a:spcBef>
                        <a:spcAft>
                          <a:spcPts val="0"/>
                        </a:spcAft>
                        <a:buNone/>
                      </a:pPr>
                      <a:r>
                        <a:rPr b="0" lang="en-US" sz="2400">
                          <a:solidFill>
                            <a:srgbClr val="D9D9D9"/>
                          </a:solidFill>
                          <a:latin typeface="Arial"/>
                          <a:ea typeface="Arial"/>
                          <a:cs typeface="Arial"/>
                          <a:sym typeface="Arial"/>
                        </a:rPr>
                        <a:t>You can change the overall template color theme by clicking on the COLORS dropdown menu under the DESIGN tab. You can see a tutorial here: </a:t>
                      </a:r>
                      <a:r>
                        <a:rPr lang="en-US" sz="2400" u="sng">
                          <a:solidFill>
                            <a:srgbClr val="FFC000"/>
                          </a:solidFill>
                          <a:hlinkClick r:id="rId1">
                            <a:extLst>
                              <a:ext uri="{A12FA001-AC4F-418D-AE19-62706E023703}">
                                <ahyp:hlinkClr val="tx"/>
                              </a:ext>
                            </a:extLst>
                          </a:hlinkClick>
                        </a:rPr>
                        <a:t>https://www.posterpresentations.com/how-to-change-the-research-poster-template-colors.html</a:t>
                      </a:r>
                      <a:endParaRPr sz="2400">
                        <a:solidFill>
                          <a:srgbClr val="FFC000"/>
                        </a:solidFill>
                      </a:endParaRPr>
                    </a:p>
                    <a:p>
                      <a:pPr indent="0" lvl="0" marL="0" marR="0" rtl="0" algn="l">
                        <a:spcBef>
                          <a:spcPts val="0"/>
                        </a:spcBef>
                        <a:spcAft>
                          <a:spcPts val="0"/>
                        </a:spcAft>
                        <a:buNone/>
                      </a:pPr>
                      <a:r>
                        <a:t/>
                      </a:r>
                      <a:endParaRPr b="0" sz="2400">
                        <a:solidFill>
                          <a:srgbClr val="D9D9D9"/>
                        </a:solidFill>
                        <a:latin typeface="Arial"/>
                        <a:ea typeface="Arial"/>
                        <a:cs typeface="Arial"/>
                        <a:sym typeface="Arial"/>
                      </a:endParaRPr>
                    </a:p>
                    <a:p>
                      <a:pPr indent="0" lvl="0" marL="0" marR="0" rtl="0" algn="l">
                        <a:spcBef>
                          <a:spcPts val="0"/>
                        </a:spcBef>
                        <a:spcAft>
                          <a:spcPts val="0"/>
                        </a:spcAft>
                        <a:buNone/>
                      </a:pPr>
                      <a:r>
                        <a:rPr b="0" lang="en-US" sz="2400">
                          <a:solidFill>
                            <a:srgbClr val="D9D9D9"/>
                          </a:solidFill>
                          <a:latin typeface="Arial"/>
                          <a:ea typeface="Arial"/>
                          <a:cs typeface="Arial"/>
                          <a:sym typeface="Arial"/>
                        </a:rPr>
                        <a:t>You can also manually change the color of individual elements by going to VIEW &gt; SLIDE MASTER. On the left side of your screen select the background master where you can change the template background, column sizes, etc. </a:t>
                      </a:r>
                      <a:endParaRPr/>
                    </a:p>
                    <a:p>
                      <a:pPr indent="0" lvl="0" marL="0" marR="0" rtl="0" algn="l">
                        <a:spcBef>
                          <a:spcPts val="0"/>
                        </a:spcBef>
                        <a:spcAft>
                          <a:spcPts val="0"/>
                        </a:spcAft>
                        <a:buNone/>
                      </a:pPr>
                      <a:r>
                        <a:t/>
                      </a:r>
                      <a:endParaRPr b="0" sz="2400">
                        <a:solidFill>
                          <a:srgbClr val="D9D9D9"/>
                        </a:solidFill>
                        <a:latin typeface="Arial"/>
                        <a:ea typeface="Arial"/>
                        <a:cs typeface="Arial"/>
                        <a:sym typeface="Arial"/>
                      </a:endParaRPr>
                    </a:p>
                    <a:p>
                      <a:pPr indent="0" lvl="0" marL="0" marR="0" rtl="0" algn="l">
                        <a:spcBef>
                          <a:spcPts val="0"/>
                        </a:spcBef>
                        <a:spcAft>
                          <a:spcPts val="0"/>
                        </a:spcAft>
                        <a:buNone/>
                      </a:pPr>
                      <a:r>
                        <a:rPr b="0" lang="en-US" sz="2400">
                          <a:solidFill>
                            <a:srgbClr val="D9D9D9"/>
                          </a:solidFill>
                          <a:latin typeface="Arial"/>
                          <a:ea typeface="Arial"/>
                          <a:cs typeface="Arial"/>
                          <a:sym typeface="Arial"/>
                        </a:rPr>
                        <a:t>After you finish working on the SLIDE MASTER, it is important that you go to VIEW &gt; NORMAL to continue working on your poster. </a:t>
                      </a:r>
                      <a:endParaRPr/>
                    </a:p>
                  </a:txBody>
                  <a:tcPr marT="137150" marB="45725" marR="91450" marL="182875">
                    <a:solidFill>
                      <a:schemeClr val="dk1"/>
                    </a:solidFill>
                  </a:tcPr>
                </a:tc>
                <a:tc hMerge="1"/>
                <a:tc hMerge="1"/>
              </a:tr>
              <a:tr h="3667725">
                <a:tc gridSpan="3">
                  <a:txBody>
                    <a:bodyPr/>
                    <a:lstStyle/>
                    <a:p>
                      <a:pPr indent="0" lvl="0" marL="0" marR="0" rtl="0" algn="l">
                        <a:spcBef>
                          <a:spcPts val="0"/>
                        </a:spcBef>
                        <a:spcAft>
                          <a:spcPts val="0"/>
                        </a:spcAft>
                        <a:buNone/>
                      </a:pPr>
                      <a:r>
                        <a:rPr b="1" lang="en-US" sz="2800">
                          <a:solidFill>
                            <a:srgbClr val="FFC000"/>
                          </a:solidFill>
                          <a:latin typeface="Arial"/>
                          <a:ea typeface="Arial"/>
                          <a:cs typeface="Arial"/>
                          <a:sym typeface="Arial"/>
                        </a:rPr>
                        <a:t>How to change the column layout configuration</a:t>
                      </a:r>
                      <a:endParaRPr/>
                    </a:p>
                    <a:p>
                      <a:pPr indent="0" lvl="0" marL="0" marR="0" rtl="0" algn="l">
                        <a:spcBef>
                          <a:spcPts val="0"/>
                        </a:spcBef>
                        <a:spcAft>
                          <a:spcPts val="0"/>
                        </a:spcAft>
                        <a:buNone/>
                      </a:pPr>
                      <a:r>
                        <a:rPr lang="en-US" sz="2400">
                          <a:solidFill>
                            <a:srgbClr val="D9D9D9"/>
                          </a:solidFill>
                          <a:latin typeface="Arial"/>
                          <a:ea typeface="Arial"/>
                          <a:cs typeface="Arial"/>
                          <a:sym typeface="Arial"/>
                        </a:rPr>
                        <a:t>You can manually change the configuration on the columns by going to VIEW &gt; SLIDE MASTER. You can delete columns, resize them or modify them as needed for your layout. </a:t>
                      </a:r>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You can see a tutorial here: </a:t>
                      </a:r>
                      <a:r>
                        <a:rPr lang="en-US" sz="2400" u="sng">
                          <a:solidFill>
                            <a:srgbClr val="FFC000"/>
                          </a:solidFill>
                          <a:latin typeface="Arial"/>
                          <a:ea typeface="Arial"/>
                          <a:cs typeface="Arial"/>
                          <a:sym typeface="Arial"/>
                        </a:rPr>
                        <a:t>https://www.posterpresentations.com/how-to-change-the-column-configuration.html</a:t>
                      </a:r>
                      <a:endParaRPr sz="8600" u="sng">
                        <a:solidFill>
                          <a:srgbClr val="FFC000"/>
                        </a:solidFill>
                      </a:endParaRPr>
                    </a:p>
                  </a:txBody>
                  <a:tcPr marT="137150" marB="45725" marR="91450" marL="182875">
                    <a:solidFill>
                      <a:schemeClr val="dk1"/>
                    </a:solidFill>
                  </a:tcPr>
                </a:tc>
                <a:tc hMerge="1"/>
                <a:tc hMerge="1"/>
              </a:tr>
              <a:tr h="5177075">
                <a:tc gridSpan="2">
                  <a:txBody>
                    <a:bodyPr/>
                    <a:lstStyle/>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txBody>
                  <a:tcPr marT="137150" marB="45725" marR="91450" marL="182875"/>
                </a:tc>
                <a:tc hMerge="1"/>
                <a:tc rowSpan="2">
                  <a:txBody>
                    <a:bodyPr/>
                    <a:lstStyle/>
                    <a:p>
                      <a:pPr indent="0" lvl="0" marL="0" marR="0" rtl="0" algn="l">
                        <a:lnSpc>
                          <a:spcPct val="100000"/>
                        </a:lnSpc>
                        <a:spcBef>
                          <a:spcPts val="0"/>
                        </a:spcBef>
                        <a:spcAft>
                          <a:spcPts val="0"/>
                        </a:spcAft>
                        <a:buClr>
                          <a:srgbClr val="FFC000"/>
                        </a:buClr>
                        <a:buSzPts val="2800"/>
                        <a:buFont typeface="Arial"/>
                        <a:buNone/>
                      </a:pPr>
                      <a:r>
                        <a:rPr b="1" lang="en-US" sz="2800">
                          <a:solidFill>
                            <a:srgbClr val="FFC000"/>
                          </a:solidFill>
                          <a:latin typeface="Arial"/>
                          <a:ea typeface="Arial"/>
                          <a:cs typeface="Arial"/>
                          <a:sym typeface="Arial"/>
                        </a:rPr>
                        <a:t>How to hide the QUICK START GUIDE bars from the sides of the template</a:t>
                      </a:r>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The Quick Start</a:t>
                      </a:r>
                      <a:r>
                        <a:rPr lang="en-US" sz="2400">
                          <a:solidFill>
                            <a:srgbClr val="D9D9D9"/>
                          </a:solidFill>
                          <a:latin typeface="Arial"/>
                          <a:ea typeface="Arial"/>
                          <a:cs typeface="Arial"/>
                          <a:sym typeface="Arial"/>
                        </a:rPr>
                        <a:t> Guides</a:t>
                      </a:r>
                      <a:r>
                        <a:rPr lang="en-US" sz="2400">
                          <a:solidFill>
                            <a:srgbClr val="D9D9D9"/>
                          </a:solidFill>
                          <a:latin typeface="Arial"/>
                          <a:ea typeface="Arial"/>
                          <a:cs typeface="Arial"/>
                          <a:sym typeface="Arial"/>
                        </a:rPr>
                        <a:t> </a:t>
                      </a:r>
                      <a:r>
                        <a:rPr lang="en-US" sz="2400" u="sng">
                          <a:solidFill>
                            <a:srgbClr val="D9D9D9"/>
                          </a:solidFill>
                          <a:latin typeface="Arial"/>
                          <a:ea typeface="Arial"/>
                          <a:cs typeface="Arial"/>
                          <a:sym typeface="Arial"/>
                        </a:rPr>
                        <a:t>are outside the template’s printable area</a:t>
                      </a:r>
                      <a:r>
                        <a:rPr lang="en-US" sz="2400">
                          <a:solidFill>
                            <a:srgbClr val="D9D9D9"/>
                          </a:solidFill>
                          <a:latin typeface="Arial"/>
                          <a:ea typeface="Arial"/>
                          <a:cs typeface="Arial"/>
                          <a:sym typeface="Arial"/>
                        </a:rPr>
                        <a:t> and they will not be on the printed poster</a:t>
                      </a:r>
                      <a:r>
                        <a:rPr lang="en-US" sz="2400">
                          <a:solidFill>
                            <a:srgbClr val="D9D9D9"/>
                          </a:solidFill>
                          <a:latin typeface="Arial"/>
                          <a:ea typeface="Arial"/>
                          <a:cs typeface="Arial"/>
                          <a:sym typeface="Arial"/>
                        </a:rPr>
                        <a:t>. </a:t>
                      </a:r>
                      <a:endParaRPr/>
                    </a:p>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If you create a PDF file from your template, the guides will not be included.</a:t>
                      </a:r>
                      <a:endParaRPr/>
                    </a:p>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To hide the guides click on the </a:t>
                      </a:r>
                      <a:r>
                        <a:rPr b="1" lang="en-US" sz="2400">
                          <a:solidFill>
                            <a:srgbClr val="D9D9D9"/>
                          </a:solidFill>
                          <a:latin typeface="Arial"/>
                          <a:ea typeface="Arial"/>
                          <a:cs typeface="Arial"/>
                          <a:sym typeface="Arial"/>
                        </a:rPr>
                        <a:t>Home</a:t>
                      </a:r>
                      <a:r>
                        <a:rPr lang="en-US" sz="2400">
                          <a:solidFill>
                            <a:srgbClr val="D9D9D9"/>
                          </a:solidFill>
                          <a:latin typeface="Arial"/>
                          <a:ea typeface="Arial"/>
                          <a:cs typeface="Arial"/>
                          <a:sym typeface="Arial"/>
                        </a:rPr>
                        <a:t> tab (top of the screen) and then click on the </a:t>
                      </a:r>
                      <a:r>
                        <a:rPr b="1" lang="en-US" sz="2400">
                          <a:solidFill>
                            <a:srgbClr val="D9D9D9"/>
                          </a:solidFill>
                          <a:latin typeface="Arial"/>
                          <a:ea typeface="Arial"/>
                          <a:cs typeface="Arial"/>
                          <a:sym typeface="Arial"/>
                        </a:rPr>
                        <a:t>Layout</a:t>
                      </a:r>
                      <a:r>
                        <a:rPr lang="en-US" sz="2400">
                          <a:solidFill>
                            <a:srgbClr val="D9D9D9"/>
                          </a:solidFill>
                          <a:latin typeface="Arial"/>
                          <a:ea typeface="Arial"/>
                          <a:cs typeface="Arial"/>
                          <a:sym typeface="Arial"/>
                        </a:rPr>
                        <a:t> button below to see the available layouts. Choose the </a:t>
                      </a:r>
                      <a:r>
                        <a:rPr b="1" lang="en-US" sz="2400">
                          <a:solidFill>
                            <a:srgbClr val="D9D9D9"/>
                          </a:solidFill>
                          <a:latin typeface="Arial"/>
                          <a:ea typeface="Arial"/>
                          <a:cs typeface="Arial"/>
                          <a:sym typeface="Arial"/>
                        </a:rPr>
                        <a:t>Without Guides </a:t>
                      </a:r>
                      <a:r>
                        <a:rPr b="0" lang="en-US" sz="2400">
                          <a:solidFill>
                            <a:srgbClr val="D9D9D9"/>
                          </a:solidFill>
                          <a:latin typeface="Arial"/>
                          <a:ea typeface="Arial"/>
                          <a:cs typeface="Arial"/>
                          <a:sym typeface="Arial"/>
                        </a:rPr>
                        <a:t>layout</a:t>
                      </a:r>
                      <a:r>
                        <a:rPr lang="en-US" sz="2400">
                          <a:solidFill>
                            <a:srgbClr val="D9D9D9"/>
                          </a:solidFill>
                          <a:latin typeface="Arial"/>
                          <a:ea typeface="Arial"/>
                          <a:cs typeface="Arial"/>
                          <a:sym typeface="Arial"/>
                        </a:rPr>
                        <a:t>.</a:t>
                      </a:r>
                      <a:endParaRPr sz="2400">
                        <a:solidFill>
                          <a:srgbClr val="D9D9D9"/>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txBody>
                  <a:tcPr marT="137150" marB="45725" marR="91450" marL="182875">
                    <a:solidFill>
                      <a:srgbClr val="010101"/>
                    </a:solidFill>
                  </a:tcPr>
                </a:tc>
              </a:tr>
              <a:tr h="2888325">
                <a:tc gridSpan="2">
                  <a:txBody>
                    <a:bodyPr/>
                    <a:lstStyle/>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txBody>
                  <a:tcPr marT="137150" marB="45725" marR="91450" marL="182875">
                    <a:solidFill>
                      <a:srgbClr val="010101"/>
                    </a:solidFill>
                  </a:tcPr>
                </a:tc>
                <a:tc hMerge="1"/>
                <a:tc vMerge="1"/>
              </a:tr>
              <a:tr h="3781425">
                <a:tc gridSpan="2">
                  <a:txBody>
                    <a:bodyPr/>
                    <a:lstStyle/>
                    <a:p>
                      <a:pPr indent="0" lvl="0" marL="0" marR="0" rtl="0" algn="l">
                        <a:spcBef>
                          <a:spcPts val="0"/>
                        </a:spcBef>
                        <a:spcAft>
                          <a:spcPts val="0"/>
                        </a:spcAft>
                        <a:buNone/>
                      </a:pPr>
                      <a:r>
                        <a:rPr b="1" lang="en-US" sz="2800">
                          <a:solidFill>
                            <a:srgbClr val="FFC000"/>
                          </a:solidFill>
                          <a:latin typeface="Arial"/>
                          <a:ea typeface="Arial"/>
                          <a:cs typeface="Arial"/>
                          <a:sym typeface="Arial"/>
                        </a:rPr>
                        <a:t>How to</a:t>
                      </a:r>
                      <a:r>
                        <a:rPr b="1" lang="en-US" sz="2800">
                          <a:solidFill>
                            <a:srgbClr val="FFC000"/>
                          </a:solidFill>
                          <a:latin typeface="Arial"/>
                          <a:ea typeface="Arial"/>
                          <a:cs typeface="Arial"/>
                          <a:sym typeface="Arial"/>
                        </a:rPr>
                        <a:t> preview your poster prior to printing</a:t>
                      </a:r>
                      <a:endParaRPr b="1" sz="2800">
                        <a:solidFill>
                          <a:srgbClr val="FFC000"/>
                        </a:solidFill>
                        <a:latin typeface="Arial"/>
                        <a:ea typeface="Arial"/>
                        <a:cs typeface="Arial"/>
                        <a:sym typeface="Arial"/>
                      </a:endParaRPr>
                    </a:p>
                    <a:p>
                      <a:pPr indent="0" lvl="0" marL="0" marR="0" rtl="0" algn="l">
                        <a:spcBef>
                          <a:spcPts val="0"/>
                        </a:spcBef>
                        <a:spcAft>
                          <a:spcPts val="0"/>
                        </a:spcAft>
                        <a:buNone/>
                      </a:pPr>
                      <a:r>
                        <a:rPr lang="en-US" sz="2400">
                          <a:solidFill>
                            <a:srgbClr val="D9D9D9"/>
                          </a:solidFill>
                          <a:latin typeface="Arial"/>
                          <a:ea typeface="Arial"/>
                          <a:cs typeface="Arial"/>
                          <a:sym typeface="Arial"/>
                        </a:rPr>
                        <a:t>You can preview your poster at any time by pressing the </a:t>
                      </a:r>
                      <a:r>
                        <a:rPr lang="en-US" sz="2400">
                          <a:solidFill>
                            <a:srgbClr val="FFC000"/>
                          </a:solidFill>
                          <a:latin typeface="Arial"/>
                          <a:ea typeface="Arial"/>
                          <a:cs typeface="Arial"/>
                          <a:sym typeface="Arial"/>
                        </a:rPr>
                        <a:t>F5 key</a:t>
                      </a:r>
                      <a:r>
                        <a:rPr lang="en-US" sz="2400">
                          <a:solidFill>
                            <a:srgbClr val="D9D9D9"/>
                          </a:solidFill>
                          <a:latin typeface="Arial"/>
                          <a:ea typeface="Arial"/>
                          <a:cs typeface="Arial"/>
                          <a:sym typeface="Arial"/>
                        </a:rPr>
                        <a:t> on your keyboard. You will see on the screen what's on your poster and how it should look when printed. Press the </a:t>
                      </a:r>
                      <a:r>
                        <a:rPr lang="en-US" sz="2400">
                          <a:solidFill>
                            <a:srgbClr val="FFC000"/>
                          </a:solidFill>
                          <a:latin typeface="Arial"/>
                          <a:ea typeface="Arial"/>
                          <a:cs typeface="Arial"/>
                          <a:sym typeface="Arial"/>
                        </a:rPr>
                        <a:t>ESC key </a:t>
                      </a:r>
                      <a:r>
                        <a:rPr lang="en-US" sz="2400">
                          <a:solidFill>
                            <a:srgbClr val="D9D9D9"/>
                          </a:solidFill>
                          <a:latin typeface="Arial"/>
                          <a:ea typeface="Arial"/>
                          <a:cs typeface="Arial"/>
                          <a:sym typeface="Arial"/>
                        </a:rPr>
                        <a:t>to exit Preview.</a:t>
                      </a:r>
                      <a:endParaRPr/>
                    </a:p>
                  </a:txBody>
                  <a:tcPr marT="137150" marB="45725" marR="91450" marL="182875">
                    <a:solidFill>
                      <a:srgbClr val="010101"/>
                    </a:solidFill>
                  </a:tcPr>
                </a:tc>
                <a:tc hMerge="1"/>
                <a:tc>
                  <a:txBody>
                    <a:bodyPr/>
                    <a:lstStyle/>
                    <a:p>
                      <a:pPr indent="0" lvl="0" marL="0" marR="0" rtl="0" algn="ctr">
                        <a:spcBef>
                          <a:spcPts val="0"/>
                        </a:spcBef>
                        <a:spcAft>
                          <a:spcPts val="0"/>
                        </a:spcAft>
                        <a:buNone/>
                      </a:pPr>
                      <a:r>
                        <a:rPr b="1" lang="en-US" sz="11500">
                          <a:solidFill>
                            <a:srgbClr val="D9D9D9"/>
                          </a:solidFill>
                          <a:latin typeface="Arial"/>
                          <a:ea typeface="Arial"/>
                          <a:cs typeface="Arial"/>
                          <a:sym typeface="Arial"/>
                        </a:rPr>
                        <a:t>F5</a:t>
                      </a:r>
                      <a:r>
                        <a:rPr lang="en-US" sz="2400">
                          <a:solidFill>
                            <a:srgbClr val="D9D9D9"/>
                          </a:solidFill>
                          <a:latin typeface="Arial"/>
                          <a:ea typeface="Arial"/>
                          <a:cs typeface="Arial"/>
                          <a:sym typeface="Arial"/>
                        </a:rPr>
                        <a:t> </a:t>
                      </a:r>
                      <a:endParaRPr sz="8600"/>
                    </a:p>
                  </a:txBody>
                  <a:tcPr marT="137150" marB="45725" marR="91450" marL="182875" anchor="ctr">
                    <a:solidFill>
                      <a:srgbClr val="0C0C0C"/>
                    </a:solidFill>
                  </a:tcPr>
                </a:tc>
              </a:tr>
              <a:tr h="5674000">
                <a:tc gridSpan="3">
                  <a:txBody>
                    <a:bodyPr/>
                    <a:lstStyle/>
                    <a:p>
                      <a:pPr indent="0" lvl="0" marL="0" marR="0" rtl="0" algn="l">
                        <a:lnSpc>
                          <a:spcPct val="100000"/>
                        </a:lnSpc>
                        <a:spcBef>
                          <a:spcPts val="0"/>
                        </a:spcBef>
                        <a:spcAft>
                          <a:spcPts val="0"/>
                        </a:spcAft>
                        <a:buClr>
                          <a:srgbClr val="FFC000"/>
                        </a:buClr>
                        <a:buSzPts val="2800"/>
                        <a:buFont typeface="Arial"/>
                        <a:buNone/>
                      </a:pPr>
                      <a:r>
                        <a:rPr b="1" lang="en-US" sz="2800">
                          <a:solidFill>
                            <a:srgbClr val="FFC000"/>
                          </a:solidFill>
                          <a:latin typeface="Arial"/>
                          <a:ea typeface="Arial"/>
                          <a:cs typeface="Arial"/>
                          <a:sym typeface="Arial"/>
                        </a:rPr>
                        <a:t>How to print your poster</a:t>
                      </a:r>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When you are ready to have your poster printed go online to </a:t>
                      </a:r>
                      <a:r>
                        <a:rPr lang="en-US" sz="2400">
                          <a:solidFill>
                            <a:srgbClr val="FFC000"/>
                          </a:solidFill>
                          <a:latin typeface="Arial"/>
                          <a:ea typeface="Arial"/>
                          <a:cs typeface="Arial"/>
                          <a:sym typeface="Arial"/>
                        </a:rPr>
                        <a:t>PosterPresentations.com</a:t>
                      </a:r>
                      <a:r>
                        <a:rPr lang="en-US" sz="2400">
                          <a:solidFill>
                            <a:srgbClr val="D9D9D9"/>
                          </a:solidFill>
                          <a:latin typeface="Arial"/>
                          <a:ea typeface="Arial"/>
                          <a:cs typeface="Arial"/>
                          <a:sym typeface="Arial"/>
                        </a:rPr>
                        <a:t> and click on the "</a:t>
                      </a:r>
                      <a:r>
                        <a:rPr lang="en-US" sz="2400">
                          <a:solidFill>
                            <a:srgbClr val="FFC000"/>
                          </a:solidFill>
                          <a:latin typeface="Arial"/>
                          <a:ea typeface="Arial"/>
                          <a:cs typeface="Arial"/>
                          <a:sym typeface="Arial"/>
                        </a:rPr>
                        <a:t>Order Your Poster</a:t>
                      </a:r>
                      <a:r>
                        <a:rPr lang="en-US" sz="2400">
                          <a:solidFill>
                            <a:srgbClr val="D9D9D9"/>
                          </a:solidFill>
                          <a:latin typeface="Arial"/>
                          <a:ea typeface="Arial"/>
                          <a:cs typeface="Arial"/>
                          <a:sym typeface="Arial"/>
                        </a:rPr>
                        <a:t>" button. You can have your poster printed on professional papers, fabric for easy traveling and a variety of other materials. </a:t>
                      </a:r>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endParaRPr/>
                    </a:p>
                    <a:p>
                      <a:pPr indent="0" lvl="0" marL="0" marR="0" rtl="0" algn="l">
                        <a:lnSpc>
                          <a:spcPct val="100000"/>
                        </a:lnSpc>
                        <a:spcBef>
                          <a:spcPts val="0"/>
                        </a:spcBef>
                        <a:spcAft>
                          <a:spcPts val="0"/>
                        </a:spcAft>
                        <a:buClr>
                          <a:srgbClr val="D9D9D9"/>
                        </a:buClr>
                        <a:buSzPts val="2400"/>
                        <a:buFont typeface="Arial"/>
                        <a:buNone/>
                      </a:pPr>
                      <a:br>
                        <a:rPr lang="en-US" sz="2400">
                          <a:solidFill>
                            <a:srgbClr val="D9D9D9"/>
                          </a:solidFill>
                          <a:latin typeface="Arial"/>
                          <a:ea typeface="Arial"/>
                          <a:cs typeface="Arial"/>
                          <a:sym typeface="Arial"/>
                        </a:rPr>
                      </a:br>
                      <a:r>
                        <a:rPr lang="en-US" sz="2400">
                          <a:solidFill>
                            <a:srgbClr val="D9D9D9"/>
                          </a:solidFill>
                          <a:latin typeface="Arial"/>
                          <a:ea typeface="Arial"/>
                          <a:cs typeface="Arial"/>
                          <a:sym typeface="Arial"/>
                        </a:rPr>
                        <a:t>Go to </a:t>
                      </a:r>
                      <a:r>
                        <a:rPr lang="en-US" sz="2400">
                          <a:solidFill>
                            <a:srgbClr val="FFC000"/>
                          </a:solidFill>
                          <a:latin typeface="Arial"/>
                          <a:ea typeface="Arial"/>
                          <a:cs typeface="Arial"/>
                          <a:sym typeface="Arial"/>
                        </a:rPr>
                        <a:t>PosterPresentations.com</a:t>
                      </a:r>
                      <a:r>
                        <a:rPr lang="en-US" sz="2400">
                          <a:solidFill>
                            <a:srgbClr val="D9D9D9"/>
                          </a:solidFill>
                          <a:latin typeface="Arial"/>
                          <a:ea typeface="Arial"/>
                          <a:cs typeface="Arial"/>
                          <a:sym typeface="Arial"/>
                        </a:rPr>
                        <a:t> for more information.</a:t>
                      </a:r>
                      <a:endParaRPr/>
                    </a:p>
                  </a:txBody>
                  <a:tcPr marT="137150" marB="45725" marR="91450" marL="182875">
                    <a:solidFill>
                      <a:srgbClr val="010101"/>
                    </a:solidFill>
                  </a:tcPr>
                </a:tc>
                <a:tc hMerge="1"/>
                <a:tc hMerge="1"/>
              </a:tr>
              <a:tr h="1354775">
                <a:tc gridSpan="3">
                  <a:txBody>
                    <a:bodyPr/>
                    <a:lstStyle/>
                    <a:p>
                      <a:pPr indent="0" lvl="0" marL="0" marR="0" rtl="0" algn="l">
                        <a:spcBef>
                          <a:spcPts val="0"/>
                        </a:spcBef>
                        <a:spcAft>
                          <a:spcPts val="0"/>
                        </a:spcAft>
                        <a:buNone/>
                      </a:pPr>
                      <a:r>
                        <a:t/>
                      </a:r>
                      <a:endParaRPr sz="2400">
                        <a:solidFill>
                          <a:srgbClr val="1F3A4E"/>
                        </a:solidFill>
                      </a:endParaRPr>
                    </a:p>
                  </a:txBody>
                  <a:tcPr marT="137150" marB="45725" marR="91450" marL="182875"/>
                </a:tc>
                <a:tc hMerge="1"/>
                <a:tc hMerge="1"/>
              </a:tr>
              <a:tr h="3212200">
                <a:tc>
                  <a:txBody>
                    <a:bodyPr/>
                    <a:lstStyle/>
                    <a:p>
                      <a:pPr indent="0" lvl="0" marL="0" marR="0" rtl="0" algn="l">
                        <a:lnSpc>
                          <a:spcPct val="130000"/>
                        </a:lnSpc>
                        <a:spcBef>
                          <a:spcPts val="0"/>
                        </a:spcBef>
                        <a:spcAft>
                          <a:spcPts val="0"/>
                        </a:spcAft>
                        <a:buNone/>
                      </a:pPr>
                      <a:r>
                        <a:rPr lang="en-US" sz="2000">
                          <a:solidFill>
                            <a:srgbClr val="D8D8D8"/>
                          </a:solidFill>
                          <a:latin typeface="Arial"/>
                          <a:ea typeface="Arial"/>
                          <a:cs typeface="Arial"/>
                          <a:sym typeface="Arial"/>
                        </a:rPr>
                        <a:t>© 2019</a:t>
                      </a:r>
                      <a:r>
                        <a:rPr lang="en-US" sz="2000">
                          <a:solidFill>
                            <a:srgbClr val="D8D8D8"/>
                          </a:solidFill>
                          <a:latin typeface="Arial"/>
                          <a:ea typeface="Arial"/>
                          <a:cs typeface="Arial"/>
                          <a:sym typeface="Arial"/>
                        </a:rPr>
                        <a:t> </a:t>
                      </a:r>
                      <a:r>
                        <a:rPr lang="en-US" sz="2000">
                          <a:solidFill>
                            <a:srgbClr val="D8D8D8"/>
                          </a:solidFill>
                          <a:latin typeface="Arial"/>
                          <a:ea typeface="Arial"/>
                          <a:cs typeface="Arial"/>
                          <a:sym typeface="Arial"/>
                        </a:rPr>
                        <a:t>PosterPresentations.com</a:t>
                      </a:r>
                      <a:br>
                        <a:rPr lang="en-US" sz="2000">
                          <a:solidFill>
                            <a:srgbClr val="D8D8D8"/>
                          </a:solidFill>
                          <a:latin typeface="Arial"/>
                          <a:ea typeface="Arial"/>
                          <a:cs typeface="Arial"/>
                          <a:sym typeface="Arial"/>
                        </a:rPr>
                      </a:br>
                      <a:r>
                        <a:rPr lang="en-US" sz="2000">
                          <a:solidFill>
                            <a:srgbClr val="D8D8D8"/>
                          </a:solidFill>
                          <a:latin typeface="Arial"/>
                          <a:ea typeface="Arial"/>
                          <a:cs typeface="Arial"/>
                          <a:sym typeface="Arial"/>
                        </a:rPr>
                        <a:t>2117 Fourth Street ,</a:t>
                      </a:r>
                      <a:r>
                        <a:rPr lang="en-US" sz="2000">
                          <a:solidFill>
                            <a:srgbClr val="D8D8D8"/>
                          </a:solidFill>
                          <a:latin typeface="Arial"/>
                          <a:ea typeface="Arial"/>
                          <a:cs typeface="Arial"/>
                          <a:sym typeface="Arial"/>
                        </a:rPr>
                        <a:t> STE C        </a:t>
                      </a:r>
                      <a:endParaRPr/>
                    </a:p>
                    <a:p>
                      <a:pPr indent="0" lvl="0" marL="0" marR="0" rtl="0" algn="l">
                        <a:lnSpc>
                          <a:spcPct val="130000"/>
                        </a:lnSpc>
                        <a:spcBef>
                          <a:spcPts val="0"/>
                        </a:spcBef>
                        <a:spcAft>
                          <a:spcPts val="0"/>
                        </a:spcAft>
                        <a:buNone/>
                      </a:pPr>
                      <a:r>
                        <a:rPr lang="en-US" sz="2000">
                          <a:solidFill>
                            <a:srgbClr val="D8D8D8"/>
                          </a:solidFill>
                          <a:latin typeface="Arial"/>
                          <a:ea typeface="Arial"/>
                          <a:cs typeface="Arial"/>
                          <a:sym typeface="Arial"/>
                        </a:rPr>
                        <a:t>Berkeley CA 94710 USA</a:t>
                      </a:r>
                      <a:endParaRPr sz="2000">
                        <a:solidFill>
                          <a:srgbClr val="D8D8D8"/>
                        </a:solidFill>
                        <a:latin typeface="Arial"/>
                        <a:ea typeface="Arial"/>
                        <a:cs typeface="Arial"/>
                        <a:sym typeface="Arial"/>
                      </a:endParaRPr>
                    </a:p>
                  </a:txBody>
                  <a:tcPr marT="137150" marB="45725" marR="91450" marL="182875">
                    <a:solidFill>
                      <a:srgbClr val="010101"/>
                    </a:solidFill>
                  </a:tcPr>
                </a:tc>
                <a:tc gridSpan="2">
                  <a:txBody>
                    <a:bodyPr/>
                    <a:lstStyle/>
                    <a:p>
                      <a:pPr indent="0" lvl="0" marL="0" marR="0" rtl="0" algn="l">
                        <a:lnSpc>
                          <a:spcPct val="100000"/>
                        </a:lnSpc>
                        <a:spcBef>
                          <a:spcPts val="0"/>
                        </a:spcBef>
                        <a:spcAft>
                          <a:spcPts val="0"/>
                        </a:spcAft>
                        <a:buClr>
                          <a:srgbClr val="D0D0D0"/>
                        </a:buClr>
                        <a:buSzPts val="2400"/>
                        <a:buFont typeface="Arial"/>
                        <a:buNone/>
                      </a:pPr>
                      <a:r>
                        <a:rPr b="1" lang="en-US" sz="2400">
                          <a:solidFill>
                            <a:srgbClr val="D0D0D0"/>
                          </a:solidFill>
                          <a:latin typeface="Arial"/>
                          <a:ea typeface="Arial"/>
                          <a:cs typeface="Arial"/>
                          <a:sym typeface="Arial"/>
                        </a:rPr>
                        <a:t>For complete tutorials</a:t>
                      </a:r>
                      <a:r>
                        <a:rPr b="1" lang="en-US" sz="2400">
                          <a:solidFill>
                            <a:srgbClr val="D0D0D0"/>
                          </a:solidFill>
                          <a:latin typeface="Arial"/>
                          <a:ea typeface="Arial"/>
                          <a:cs typeface="Arial"/>
                          <a:sym typeface="Arial"/>
                        </a:rPr>
                        <a:t> visit:</a:t>
                      </a:r>
                      <a:endParaRPr/>
                    </a:p>
                    <a:p>
                      <a:pPr indent="0" lvl="0" marL="0" marR="0" rtl="0" algn="l">
                        <a:lnSpc>
                          <a:spcPct val="100000"/>
                        </a:lnSpc>
                        <a:spcBef>
                          <a:spcPts val="0"/>
                        </a:spcBef>
                        <a:spcAft>
                          <a:spcPts val="0"/>
                        </a:spcAft>
                        <a:buClr>
                          <a:srgbClr val="FFC000"/>
                        </a:buClr>
                        <a:buSzPts val="1800"/>
                        <a:buFont typeface="Arial"/>
                        <a:buNone/>
                      </a:pPr>
                      <a:r>
                        <a:rPr b="1" lang="en-US" sz="1800">
                          <a:solidFill>
                            <a:srgbClr val="FFC000"/>
                          </a:solidFill>
                          <a:latin typeface="Arial"/>
                          <a:ea typeface="Arial"/>
                          <a:cs typeface="Arial"/>
                          <a:sym typeface="Arial"/>
                        </a:rPr>
                        <a:t>https://www.posterpresentations.com/helpdesk.html</a:t>
                      </a:r>
                      <a:endParaRPr sz="1800">
                        <a:solidFill>
                          <a:srgbClr val="D8D8D8"/>
                        </a:solidFill>
                        <a:latin typeface="Arial"/>
                        <a:ea typeface="Arial"/>
                        <a:cs typeface="Arial"/>
                        <a:sym typeface="Arial"/>
                      </a:endParaRPr>
                    </a:p>
                  </a:txBody>
                  <a:tcPr marT="137150" marB="45725" marR="91450" marL="182875">
                    <a:solidFill>
                      <a:srgbClr val="010101"/>
                    </a:solidFill>
                  </a:tcPr>
                </a:tc>
                <a:tc hMerge="1"/>
              </a:tr>
            </a:tbl>
          </a:graphicData>
        </a:graphic>
      </p:graphicFrame>
    </p:spTree>
  </p:cSld>
  <p:clrMap accent1="accent1" accent2="accent2" accent3="accent3" accent4="accent4" accent5="accent5" accent6="accent6" bg1="lt1" bg2="dk2" tx1="dk1" tx2="lt2" folHlink="folHlink" hlink="hlink"/>
  <p:sldLayoutIdLst>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5.png"/><Relationship Id="rId10" Type="http://schemas.openxmlformats.org/officeDocument/2006/relationships/image" Target="../media/image13.png"/><Relationship Id="rId13" Type="http://schemas.openxmlformats.org/officeDocument/2006/relationships/image" Target="../media/image4.png"/><Relationship Id="rId12" Type="http://schemas.openxmlformats.org/officeDocument/2006/relationships/image" Target="../media/image1.png"/><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2.png"/><Relationship Id="rId9" Type="http://schemas.openxmlformats.org/officeDocument/2006/relationships/image" Target="../media/image8.png"/><Relationship Id="rId15" Type="http://schemas.openxmlformats.org/officeDocument/2006/relationships/image" Target="../media/image10.png"/><Relationship Id="rId14" Type="http://schemas.openxmlformats.org/officeDocument/2006/relationships/image" Target="../media/image14.png"/><Relationship Id="rId16"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424242"/>
            </a:gs>
            <a:gs pos="21000">
              <a:srgbClr val="222222"/>
            </a:gs>
            <a:gs pos="100000">
              <a:srgbClr val="010101"/>
            </a:gs>
          </a:gsLst>
          <a:lin ang="5400012" scaled="0"/>
        </a:gradFill>
      </p:bgPr>
    </p:bg>
    <p:spTree>
      <p:nvGrpSpPr>
        <p:cNvPr id="34" name="Shape 34"/>
        <p:cNvGrpSpPr/>
        <p:nvPr/>
      </p:nvGrpSpPr>
      <p:grpSpPr>
        <a:xfrm>
          <a:off x="0" y="0"/>
          <a:ext cx="0" cy="0"/>
          <a:chOff x="0" y="0"/>
          <a:chExt cx="0" cy="0"/>
        </a:xfrm>
      </p:grpSpPr>
      <p:pic>
        <p:nvPicPr>
          <p:cNvPr id="35" name="Google Shape;35;p1"/>
          <p:cNvPicPr preferRelativeResize="0"/>
          <p:nvPr/>
        </p:nvPicPr>
        <p:blipFill>
          <a:blip r:embed="rId3">
            <a:alphaModFix amt="50000"/>
          </a:blip>
          <a:stretch>
            <a:fillRect/>
          </a:stretch>
        </p:blipFill>
        <p:spPr>
          <a:xfrm>
            <a:off x="2630050" y="-1332350"/>
            <a:ext cx="38631101" cy="38631101"/>
          </a:xfrm>
          <a:prstGeom prst="rect">
            <a:avLst/>
          </a:prstGeom>
          <a:noFill/>
          <a:ln>
            <a:noFill/>
          </a:ln>
        </p:spPr>
      </p:pic>
      <p:sp>
        <p:nvSpPr>
          <p:cNvPr id="36" name="Google Shape;36;p1"/>
          <p:cNvSpPr/>
          <p:nvPr/>
        </p:nvSpPr>
        <p:spPr>
          <a:xfrm>
            <a:off x="11711350" y="5548725"/>
            <a:ext cx="10058400" cy="109725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 name="Google Shape;37;p1"/>
          <p:cNvSpPr/>
          <p:nvPr/>
        </p:nvSpPr>
        <p:spPr>
          <a:xfrm>
            <a:off x="33182425" y="5548725"/>
            <a:ext cx="10464600" cy="257982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8" name="Google Shape;38;p1"/>
          <p:cNvSpPr/>
          <p:nvPr/>
        </p:nvSpPr>
        <p:spPr>
          <a:xfrm>
            <a:off x="428325" y="5548750"/>
            <a:ext cx="10464600" cy="257982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 name="Google Shape;39;p1"/>
          <p:cNvSpPr txBox="1"/>
          <p:nvPr/>
        </p:nvSpPr>
        <p:spPr>
          <a:xfrm>
            <a:off x="428325" y="22822300"/>
            <a:ext cx="10464600" cy="10162800"/>
          </a:xfrm>
          <a:prstGeom prst="rect">
            <a:avLst/>
          </a:prstGeom>
          <a:noFill/>
          <a:ln>
            <a:noFill/>
          </a:ln>
        </p:spPr>
        <p:txBody>
          <a:bodyPr anchorCtr="0" anchor="t" bIns="91425" lIns="91425" spcFirstLastPara="1" rIns="91425" wrap="square" tIns="91425">
            <a:noAutofit/>
          </a:bodyPr>
          <a:lstStyle/>
          <a:p>
            <a:pPr indent="-488950" lvl="0" marL="9144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Moving away from Python</a:t>
            </a:r>
            <a:endParaRPr sz="4100">
              <a:solidFill>
                <a:schemeClr val="lt1"/>
              </a:solidFill>
              <a:latin typeface="Helvetica Neue"/>
              <a:ea typeface="Helvetica Neue"/>
              <a:cs typeface="Helvetica Neue"/>
              <a:sym typeface="Helvetica Neue"/>
            </a:endParaRPr>
          </a:p>
          <a:p>
            <a:pPr indent="-488950" lvl="1" marL="13716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Javascript was more customizable and robust for front-end</a:t>
            </a:r>
            <a:endParaRPr sz="4100">
              <a:solidFill>
                <a:schemeClr val="lt1"/>
              </a:solidFill>
              <a:latin typeface="Helvetica Neue"/>
              <a:ea typeface="Helvetica Neue"/>
              <a:cs typeface="Helvetica Neue"/>
              <a:sym typeface="Helvetica Neue"/>
            </a:endParaRPr>
          </a:p>
          <a:p>
            <a:pPr indent="-488950" lvl="1" marL="13716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Golang is more performant for back-end tasks</a:t>
            </a:r>
            <a:endParaRPr sz="4100">
              <a:solidFill>
                <a:schemeClr val="lt1"/>
              </a:solidFill>
              <a:latin typeface="Helvetica Neue"/>
              <a:ea typeface="Helvetica Neue"/>
              <a:cs typeface="Helvetica Neue"/>
              <a:sym typeface="Helvetica Neue"/>
            </a:endParaRPr>
          </a:p>
          <a:p>
            <a:pPr indent="-488950" lvl="0" marL="9144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Decided to </a:t>
            </a:r>
            <a:endParaRPr sz="4100">
              <a:solidFill>
                <a:schemeClr val="lt1"/>
              </a:solidFill>
              <a:latin typeface="Helvetica Neue"/>
              <a:ea typeface="Helvetica Neue"/>
              <a:cs typeface="Helvetica Neue"/>
              <a:sym typeface="Helvetica Neue"/>
            </a:endParaRPr>
          </a:p>
          <a:p>
            <a:pPr indent="-488950" lvl="0" marL="9144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New logo</a:t>
            </a:r>
            <a:endParaRPr sz="4100">
              <a:solidFill>
                <a:schemeClr val="lt1"/>
              </a:solidFill>
              <a:latin typeface="Helvetica Neue"/>
              <a:ea typeface="Helvetica Neue"/>
              <a:cs typeface="Helvetica Neue"/>
              <a:sym typeface="Helvetica Neue"/>
            </a:endParaRPr>
          </a:p>
          <a:p>
            <a:pPr indent="-488950" lvl="1" marL="13716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A modified version of the Submitty logo with the duck made up of green binary</a:t>
            </a:r>
            <a:endParaRPr sz="4100">
              <a:solidFill>
                <a:schemeClr val="lt1"/>
              </a:solidFill>
              <a:latin typeface="Helvetica Neue"/>
              <a:ea typeface="Helvetica Neue"/>
              <a:cs typeface="Helvetica Neue"/>
              <a:sym typeface="Helvetica Neue"/>
            </a:endParaRPr>
          </a:p>
          <a:p>
            <a:pPr indent="0" lvl="0" marL="914400" rtl="0" algn="l">
              <a:lnSpc>
                <a:spcPct val="115000"/>
              </a:lnSpc>
              <a:spcBef>
                <a:spcPts val="0"/>
              </a:spcBef>
              <a:spcAft>
                <a:spcPts val="0"/>
              </a:spcAft>
              <a:buClr>
                <a:schemeClr val="dk1"/>
              </a:buClr>
              <a:buSzPts val="1100"/>
              <a:buFont typeface="Arial"/>
              <a:buNone/>
            </a:pPr>
            <a:r>
              <a:rPr lang="en-US" sz="4100">
                <a:solidFill>
                  <a:schemeClr val="lt1"/>
                </a:solidFill>
                <a:latin typeface="Helvetica Neue"/>
                <a:ea typeface="Helvetica Neue"/>
                <a:cs typeface="Helvetica Neue"/>
                <a:sym typeface="Helvetica Neue"/>
              </a:rPr>
              <a:t> </a:t>
            </a:r>
            <a:endParaRPr sz="4100">
              <a:solidFill>
                <a:schemeClr val="lt1"/>
              </a:solidFill>
              <a:latin typeface="Helvetica Neue"/>
              <a:ea typeface="Helvetica Neue"/>
              <a:cs typeface="Helvetica Neue"/>
              <a:sym typeface="Helvetica Neue"/>
            </a:endParaRPr>
          </a:p>
        </p:txBody>
      </p:sp>
      <p:sp>
        <p:nvSpPr>
          <p:cNvPr id="40" name="Google Shape;40;p1"/>
          <p:cNvSpPr txBox="1"/>
          <p:nvPr>
            <p:ph idx="4" type="body"/>
          </p:nvPr>
        </p:nvSpPr>
        <p:spPr>
          <a:xfrm>
            <a:off x="11808086" y="6530881"/>
            <a:ext cx="10048800" cy="9835800"/>
          </a:xfrm>
          <a:prstGeom prst="rect">
            <a:avLst/>
          </a:prstGeom>
          <a:noFill/>
          <a:ln>
            <a:noFill/>
          </a:ln>
        </p:spPr>
        <p:txBody>
          <a:bodyPr anchorCtr="0" anchor="t" bIns="228575" lIns="228575" spcFirstLastPara="1" rIns="228575" wrap="square" tIns="228575">
            <a:spAutoFit/>
          </a:bodyPr>
          <a:lstStyle/>
          <a:p>
            <a:pPr indent="-495300" lvl="0" marL="457200" rtl="0" algn="l">
              <a:lnSpc>
                <a:spcPct val="150000"/>
              </a:lnSpc>
              <a:spcBef>
                <a:spcPts val="0"/>
              </a:spcBef>
              <a:spcAft>
                <a:spcPts val="0"/>
              </a:spcAft>
              <a:buClr>
                <a:schemeClr val="lt1"/>
              </a:buClr>
              <a:buSzPts val="4200"/>
              <a:buFont typeface="Helvetica Neue"/>
              <a:buChar char="●"/>
            </a:pPr>
            <a:r>
              <a:rPr lang="en-US" sz="4200">
                <a:solidFill>
                  <a:schemeClr val="lt1"/>
                </a:solidFill>
                <a:latin typeface="Helvetica Neue"/>
                <a:ea typeface="Helvetica Neue"/>
                <a:cs typeface="Helvetica Neue"/>
                <a:sym typeface="Helvetica Neue"/>
              </a:rPr>
              <a:t>Provide students with a resource to quickly and easily test code anywhere, anytime</a:t>
            </a:r>
            <a:endParaRPr sz="4200">
              <a:solidFill>
                <a:schemeClr val="lt1"/>
              </a:solidFill>
              <a:latin typeface="Helvetica Neue"/>
              <a:ea typeface="Helvetica Neue"/>
              <a:cs typeface="Helvetica Neue"/>
              <a:sym typeface="Helvetica Neue"/>
            </a:endParaRPr>
          </a:p>
          <a:p>
            <a:pPr indent="-495300" lvl="0" marL="457200" rtl="0" algn="l">
              <a:lnSpc>
                <a:spcPct val="150000"/>
              </a:lnSpc>
              <a:spcBef>
                <a:spcPts val="0"/>
              </a:spcBef>
              <a:spcAft>
                <a:spcPts val="0"/>
              </a:spcAft>
              <a:buClr>
                <a:schemeClr val="lt1"/>
              </a:buClr>
              <a:buSzPts val="4200"/>
              <a:buFont typeface="Helvetica Neue"/>
              <a:buChar char="●"/>
            </a:pPr>
            <a:r>
              <a:rPr lang="en-US" sz="4200">
                <a:solidFill>
                  <a:schemeClr val="lt1"/>
                </a:solidFill>
                <a:latin typeface="Helvetica Neue"/>
                <a:ea typeface="Helvetica Neue"/>
                <a:cs typeface="Helvetica Neue"/>
                <a:sym typeface="Helvetica Neue"/>
              </a:rPr>
              <a:t>Create a user friendly and functional UI</a:t>
            </a:r>
            <a:endParaRPr sz="4200">
              <a:solidFill>
                <a:schemeClr val="lt1"/>
              </a:solidFill>
              <a:latin typeface="Helvetica Neue"/>
              <a:ea typeface="Helvetica Neue"/>
              <a:cs typeface="Helvetica Neue"/>
              <a:sym typeface="Helvetica Neue"/>
            </a:endParaRPr>
          </a:p>
          <a:p>
            <a:pPr indent="-495300" lvl="0" marL="457200" rtl="0" algn="l">
              <a:lnSpc>
                <a:spcPct val="150000"/>
              </a:lnSpc>
              <a:spcBef>
                <a:spcPts val="0"/>
              </a:spcBef>
              <a:spcAft>
                <a:spcPts val="0"/>
              </a:spcAft>
              <a:buClr>
                <a:schemeClr val="lt1"/>
              </a:buClr>
              <a:buSzPts val="4200"/>
              <a:buFont typeface="Helvetica Neue"/>
              <a:buChar char="●"/>
            </a:pPr>
            <a:r>
              <a:rPr lang="en-US" sz="4200">
                <a:solidFill>
                  <a:schemeClr val="lt1"/>
                </a:solidFill>
                <a:latin typeface="Helvetica Neue"/>
                <a:ea typeface="Helvetica Neue"/>
                <a:cs typeface="Helvetica Neue"/>
                <a:sym typeface="Helvetica Neue"/>
              </a:rPr>
              <a:t>Encourage students to develop better testing habits</a:t>
            </a:r>
            <a:endParaRPr sz="4200">
              <a:solidFill>
                <a:schemeClr val="lt1"/>
              </a:solidFill>
              <a:latin typeface="Helvetica Neue"/>
              <a:ea typeface="Helvetica Neue"/>
              <a:cs typeface="Helvetica Neue"/>
              <a:sym typeface="Helvetica Neue"/>
            </a:endParaRPr>
          </a:p>
          <a:p>
            <a:pPr indent="-495300" lvl="0" marL="457200" rtl="0" algn="l">
              <a:lnSpc>
                <a:spcPct val="150000"/>
              </a:lnSpc>
              <a:spcBef>
                <a:spcPts val="0"/>
              </a:spcBef>
              <a:spcAft>
                <a:spcPts val="0"/>
              </a:spcAft>
              <a:buClr>
                <a:schemeClr val="lt1"/>
              </a:buClr>
              <a:buSzPts val="4200"/>
              <a:buFont typeface="Helvetica Neue"/>
              <a:buChar char="●"/>
            </a:pPr>
            <a:r>
              <a:rPr lang="en-US" sz="4200">
                <a:solidFill>
                  <a:schemeClr val="lt1"/>
                </a:solidFill>
                <a:latin typeface="Helvetica Neue"/>
                <a:ea typeface="Helvetica Neue"/>
                <a:cs typeface="Helvetica Neue"/>
                <a:sym typeface="Helvetica Neue"/>
              </a:rPr>
              <a:t>Relieve stress off Submitty servers</a:t>
            </a:r>
            <a:endParaRPr sz="4200">
              <a:solidFill>
                <a:schemeClr val="lt1"/>
              </a:solidFill>
              <a:latin typeface="Helvetica Neue"/>
              <a:ea typeface="Helvetica Neue"/>
              <a:cs typeface="Helvetica Neue"/>
              <a:sym typeface="Helvetica Neue"/>
            </a:endParaRPr>
          </a:p>
          <a:p>
            <a:pPr indent="-495300" lvl="0" marL="457200" rtl="0" algn="l">
              <a:lnSpc>
                <a:spcPct val="150000"/>
              </a:lnSpc>
              <a:spcBef>
                <a:spcPts val="0"/>
              </a:spcBef>
              <a:spcAft>
                <a:spcPts val="0"/>
              </a:spcAft>
              <a:buClr>
                <a:schemeClr val="lt1"/>
              </a:buClr>
              <a:buSzPts val="4200"/>
              <a:buFont typeface="Helvetica Neue"/>
              <a:buChar char="●"/>
            </a:pPr>
            <a:r>
              <a:rPr lang="en-US" sz="4200">
                <a:solidFill>
                  <a:schemeClr val="lt1"/>
                </a:solidFill>
                <a:latin typeface="Helvetica Neue"/>
                <a:ea typeface="Helvetica Neue"/>
                <a:cs typeface="Helvetica Neue"/>
                <a:sym typeface="Helvetica Neue"/>
              </a:rPr>
              <a:t>Apply the skills we’ve learned in classes to create a useful product!</a:t>
            </a:r>
            <a:endParaRPr sz="4200">
              <a:solidFill>
                <a:schemeClr val="lt1"/>
              </a:solidFill>
              <a:latin typeface="Helvetica Neue"/>
              <a:ea typeface="Helvetica Neue"/>
              <a:cs typeface="Helvetica Neue"/>
              <a:sym typeface="Helvetica Neue"/>
            </a:endParaRPr>
          </a:p>
        </p:txBody>
      </p:sp>
      <p:sp>
        <p:nvSpPr>
          <p:cNvPr id="41" name="Google Shape;41;p1"/>
          <p:cNvSpPr txBox="1"/>
          <p:nvPr>
            <p:ph idx="1" type="body"/>
          </p:nvPr>
        </p:nvSpPr>
        <p:spPr>
          <a:xfrm>
            <a:off x="459675" y="6378476"/>
            <a:ext cx="10056900" cy="14156400"/>
          </a:xfrm>
          <a:prstGeom prst="rect">
            <a:avLst/>
          </a:prstGeom>
          <a:noFill/>
          <a:ln>
            <a:noFill/>
          </a:ln>
        </p:spPr>
        <p:txBody>
          <a:bodyPr anchorCtr="0" anchor="t" bIns="228575" lIns="228575" spcFirstLastPara="1" rIns="228575" wrap="square" tIns="228575">
            <a:spAutoFit/>
          </a:bodyPr>
          <a:lstStyle/>
          <a:p>
            <a:pPr indent="-488950" lvl="0" marL="4572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Standalone app</a:t>
            </a:r>
            <a:endParaRPr sz="4100">
              <a:solidFill>
                <a:schemeClr val="lt1"/>
              </a:solidFill>
              <a:latin typeface="Helvetica Neue"/>
              <a:ea typeface="Helvetica Neue"/>
              <a:cs typeface="Helvetica Neue"/>
              <a:sym typeface="Helvetica Neue"/>
            </a:endParaRPr>
          </a:p>
          <a:p>
            <a:pPr indent="-488950" lvl="1" marL="9144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Students can get feedback on homework without having to rely on Submitty</a:t>
            </a:r>
            <a:endParaRPr sz="4100">
              <a:solidFill>
                <a:schemeClr val="lt1"/>
              </a:solidFill>
              <a:latin typeface="Helvetica Neue"/>
              <a:ea typeface="Helvetica Neue"/>
              <a:cs typeface="Helvetica Neue"/>
              <a:sym typeface="Helvetica Neue"/>
            </a:endParaRPr>
          </a:p>
          <a:p>
            <a:pPr indent="-488950" lvl="0" marL="4572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Using the Submitty autograder to test and find problems in code can be cumbersome</a:t>
            </a:r>
            <a:endParaRPr sz="4100">
              <a:solidFill>
                <a:schemeClr val="lt1"/>
              </a:solidFill>
              <a:latin typeface="Helvetica Neue"/>
              <a:ea typeface="Helvetica Neue"/>
              <a:cs typeface="Helvetica Neue"/>
              <a:sym typeface="Helvetica Neue"/>
            </a:endParaRPr>
          </a:p>
          <a:p>
            <a:pPr indent="-488950" lvl="1" marL="9144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SIFT gives students the tools to get their homeworks graded instantly on their own computers</a:t>
            </a:r>
            <a:endParaRPr sz="4100">
              <a:solidFill>
                <a:schemeClr val="lt1"/>
              </a:solidFill>
              <a:latin typeface="Helvetica Neue"/>
              <a:ea typeface="Helvetica Neue"/>
              <a:cs typeface="Helvetica Neue"/>
              <a:sym typeface="Helvetica Neue"/>
            </a:endParaRPr>
          </a:p>
          <a:p>
            <a:pPr indent="-488950" lvl="0" marL="4572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SIFT runs the user’s source code and shows a comparison between the actual and expected output</a:t>
            </a:r>
            <a:endParaRPr sz="4100">
              <a:solidFill>
                <a:schemeClr val="lt1"/>
              </a:solidFill>
              <a:latin typeface="Helvetica Neue"/>
              <a:ea typeface="Helvetica Neue"/>
              <a:cs typeface="Helvetica Neue"/>
              <a:sym typeface="Helvetica Neue"/>
            </a:endParaRPr>
          </a:p>
          <a:p>
            <a:pPr indent="-488950" lvl="0" marL="4572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Streamlines the process of creating and testing code</a:t>
            </a:r>
            <a:endParaRPr sz="4100">
              <a:solidFill>
                <a:schemeClr val="lt1"/>
              </a:solidFill>
              <a:latin typeface="Helvetica Neue"/>
              <a:ea typeface="Helvetica Neue"/>
              <a:cs typeface="Helvetica Neue"/>
              <a:sym typeface="Helvetica Neue"/>
            </a:endParaRPr>
          </a:p>
          <a:p>
            <a:pPr indent="-488950" lvl="1" marL="914400" rtl="0" algn="l">
              <a:lnSpc>
                <a:spcPct val="115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Students can spend less time waiting for Submitty, wasting submissions, and instead get quick results and keep working</a:t>
            </a:r>
            <a:endParaRPr sz="4100">
              <a:solidFill>
                <a:schemeClr val="lt1"/>
              </a:solidFill>
              <a:latin typeface="Helvetica Neue"/>
              <a:ea typeface="Helvetica Neue"/>
              <a:cs typeface="Helvetica Neue"/>
              <a:sym typeface="Helvetica Neue"/>
            </a:endParaRPr>
          </a:p>
        </p:txBody>
      </p:sp>
      <p:sp>
        <p:nvSpPr>
          <p:cNvPr id="42" name="Google Shape;42;p1"/>
          <p:cNvSpPr txBox="1"/>
          <p:nvPr>
            <p:ph idx="9" type="body"/>
          </p:nvPr>
        </p:nvSpPr>
        <p:spPr>
          <a:xfrm>
            <a:off x="33405900" y="6352650"/>
            <a:ext cx="10047000" cy="3668100"/>
          </a:xfrm>
          <a:prstGeom prst="rect">
            <a:avLst/>
          </a:prstGeom>
          <a:noFill/>
          <a:ln>
            <a:noFill/>
          </a:ln>
        </p:spPr>
        <p:txBody>
          <a:bodyPr anchorCtr="0" anchor="t" bIns="228575" lIns="228575" spcFirstLastPara="1" rIns="228575" wrap="square" tIns="228575">
            <a:noAutofit/>
          </a:bodyPr>
          <a:lstStyle/>
          <a:p>
            <a:pPr indent="-476250" lvl="0" marL="4572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We made our mock ups in figma</a:t>
            </a:r>
            <a:endParaRPr sz="3900">
              <a:solidFill>
                <a:schemeClr val="lt1"/>
              </a:solidFill>
              <a:latin typeface="Helvetica Neue"/>
              <a:ea typeface="Helvetica Neue"/>
              <a:cs typeface="Helvetica Neue"/>
              <a:sym typeface="Helvetica Neue"/>
            </a:endParaRPr>
          </a:p>
          <a:p>
            <a:pPr indent="-476250" lvl="1" marL="9144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it was easy to use and it allowed us to easily collaborate with each other. </a:t>
            </a:r>
            <a:endParaRPr sz="3900">
              <a:solidFill>
                <a:schemeClr val="lt1"/>
              </a:solidFill>
              <a:latin typeface="Helvetica Neue"/>
              <a:ea typeface="Helvetica Neue"/>
              <a:cs typeface="Helvetica Neue"/>
              <a:sym typeface="Helvetica Neue"/>
            </a:endParaRPr>
          </a:p>
          <a:p>
            <a:pPr indent="-476250" lvl="0" marL="4572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Our design philosophy when making our frontend was that we wanted to emphasize the discoverability of our application. </a:t>
            </a:r>
            <a:endParaRPr sz="3900">
              <a:solidFill>
                <a:schemeClr val="lt1"/>
              </a:solidFill>
              <a:latin typeface="Helvetica Neue"/>
              <a:ea typeface="Helvetica Neue"/>
              <a:cs typeface="Helvetica Neue"/>
              <a:sym typeface="Helvetica Neue"/>
            </a:endParaRPr>
          </a:p>
        </p:txBody>
      </p:sp>
      <p:sp>
        <p:nvSpPr>
          <p:cNvPr id="43" name="Google Shape;43;p1"/>
          <p:cNvSpPr txBox="1"/>
          <p:nvPr>
            <p:ph idx="2" type="body"/>
          </p:nvPr>
        </p:nvSpPr>
        <p:spPr>
          <a:xfrm>
            <a:off x="477827" y="5548749"/>
            <a:ext cx="100488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Introduction</a:t>
            </a:r>
            <a:endParaRPr sz="4700">
              <a:solidFill>
                <a:schemeClr val="lt1"/>
              </a:solidFill>
              <a:latin typeface="Helvetica Neue"/>
              <a:ea typeface="Helvetica Neue"/>
              <a:cs typeface="Helvetica Neue"/>
              <a:sym typeface="Helvetica Neue"/>
            </a:endParaRPr>
          </a:p>
        </p:txBody>
      </p:sp>
      <p:sp>
        <p:nvSpPr>
          <p:cNvPr id="44" name="Google Shape;44;p1"/>
          <p:cNvSpPr/>
          <p:nvPr/>
        </p:nvSpPr>
        <p:spPr>
          <a:xfrm>
            <a:off x="11746475" y="17008525"/>
            <a:ext cx="20582400" cy="143385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 name="Google Shape;45;p1"/>
          <p:cNvSpPr txBox="1"/>
          <p:nvPr>
            <p:ph idx="3" type="body"/>
          </p:nvPr>
        </p:nvSpPr>
        <p:spPr>
          <a:xfrm>
            <a:off x="16824188" y="17140563"/>
            <a:ext cx="100506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Visuals</a:t>
            </a:r>
            <a:endParaRPr sz="4700">
              <a:solidFill>
                <a:schemeClr val="lt1"/>
              </a:solidFill>
              <a:latin typeface="Helvetica Neue"/>
              <a:ea typeface="Helvetica Neue"/>
              <a:cs typeface="Helvetica Neue"/>
              <a:sym typeface="Helvetica Neue"/>
            </a:endParaRPr>
          </a:p>
        </p:txBody>
      </p:sp>
      <p:sp>
        <p:nvSpPr>
          <p:cNvPr id="46" name="Google Shape;46;p1"/>
          <p:cNvSpPr txBox="1"/>
          <p:nvPr>
            <p:ph idx="5" type="body"/>
          </p:nvPr>
        </p:nvSpPr>
        <p:spPr>
          <a:xfrm>
            <a:off x="11655687" y="5548749"/>
            <a:ext cx="100488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Objectives</a:t>
            </a:r>
            <a:endParaRPr sz="4700">
              <a:solidFill>
                <a:schemeClr val="lt1"/>
              </a:solidFill>
              <a:latin typeface="Helvetica Neue"/>
              <a:ea typeface="Helvetica Neue"/>
              <a:cs typeface="Helvetica Neue"/>
              <a:sym typeface="Helvetica Neue"/>
            </a:endParaRPr>
          </a:p>
        </p:txBody>
      </p:sp>
      <p:pic>
        <p:nvPicPr>
          <p:cNvPr id="47" name="Google Shape;47;p1"/>
          <p:cNvPicPr preferRelativeResize="0"/>
          <p:nvPr/>
        </p:nvPicPr>
        <p:blipFill>
          <a:blip r:embed="rId4">
            <a:alphaModFix/>
          </a:blip>
          <a:stretch>
            <a:fillRect/>
          </a:stretch>
        </p:blipFill>
        <p:spPr>
          <a:xfrm>
            <a:off x="1039062" y="607687"/>
            <a:ext cx="4511926" cy="4511926"/>
          </a:xfrm>
          <a:prstGeom prst="rect">
            <a:avLst/>
          </a:prstGeom>
          <a:noFill/>
          <a:ln>
            <a:noFill/>
          </a:ln>
        </p:spPr>
      </p:pic>
      <p:sp>
        <p:nvSpPr>
          <p:cNvPr id="48" name="Google Shape;48;p1"/>
          <p:cNvSpPr/>
          <p:nvPr/>
        </p:nvSpPr>
        <p:spPr>
          <a:xfrm>
            <a:off x="22242425" y="5548750"/>
            <a:ext cx="10058400" cy="109725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 name="Google Shape;49;p1"/>
          <p:cNvSpPr txBox="1"/>
          <p:nvPr>
            <p:ph idx="6" type="body"/>
          </p:nvPr>
        </p:nvSpPr>
        <p:spPr>
          <a:xfrm>
            <a:off x="22244906" y="6328831"/>
            <a:ext cx="10048800" cy="10392900"/>
          </a:xfrm>
          <a:prstGeom prst="rect">
            <a:avLst/>
          </a:prstGeom>
          <a:noFill/>
          <a:ln>
            <a:noFill/>
          </a:ln>
        </p:spPr>
        <p:txBody>
          <a:bodyPr anchorCtr="0" anchor="t" bIns="228575" lIns="228575" spcFirstLastPara="1" rIns="228575" wrap="square" tIns="228575">
            <a:spAutoFit/>
          </a:bodyPr>
          <a:lstStyle/>
          <a:p>
            <a:pPr indent="0" lvl="0" marL="0" rtl="0" algn="ctr">
              <a:lnSpc>
                <a:spcPct val="115000"/>
              </a:lnSpc>
              <a:spcBef>
                <a:spcPts val="0"/>
              </a:spcBef>
              <a:spcAft>
                <a:spcPts val="0"/>
              </a:spcAft>
              <a:buClr>
                <a:schemeClr val="dk1"/>
              </a:buClr>
              <a:buSzPts val="1100"/>
              <a:buNone/>
            </a:pPr>
            <a:r>
              <a:t/>
            </a:r>
            <a:endParaRPr sz="3600">
              <a:solidFill>
                <a:schemeClr val="lt1"/>
              </a:solidFill>
              <a:latin typeface="Helvetica Neue"/>
              <a:ea typeface="Helvetica Neue"/>
              <a:cs typeface="Helvetica Neue"/>
              <a:sym typeface="Helvetica Neue"/>
            </a:endParaRPr>
          </a:p>
          <a:p>
            <a:pPr indent="0" lvl="0" marL="0" rtl="0" algn="ctr">
              <a:lnSpc>
                <a:spcPct val="115000"/>
              </a:lnSpc>
              <a:spcBef>
                <a:spcPts val="0"/>
              </a:spcBef>
              <a:spcAft>
                <a:spcPts val="0"/>
              </a:spcAft>
              <a:buClr>
                <a:schemeClr val="dk1"/>
              </a:buClr>
              <a:buSzPts val="1100"/>
              <a:buNone/>
            </a:pPr>
            <a:r>
              <a:t/>
            </a:r>
            <a:endParaRPr sz="3600">
              <a:solidFill>
                <a:schemeClr val="lt1"/>
              </a:solidFill>
              <a:latin typeface="Helvetica Neue"/>
              <a:ea typeface="Helvetica Neue"/>
              <a:cs typeface="Helvetica Neue"/>
              <a:sym typeface="Helvetica Neue"/>
            </a:endParaRPr>
          </a:p>
          <a:p>
            <a:pPr indent="0" lvl="0" marL="0" rtl="0" algn="ctr">
              <a:lnSpc>
                <a:spcPct val="115000"/>
              </a:lnSpc>
              <a:spcBef>
                <a:spcPts val="0"/>
              </a:spcBef>
              <a:spcAft>
                <a:spcPts val="0"/>
              </a:spcAft>
              <a:buClr>
                <a:schemeClr val="dk1"/>
              </a:buClr>
              <a:buSzPts val="1100"/>
              <a:buNone/>
            </a:pPr>
            <a:r>
              <a:t/>
            </a:r>
            <a:endParaRPr sz="3800">
              <a:solidFill>
                <a:schemeClr val="lt1"/>
              </a:solidFill>
              <a:latin typeface="Helvetica Neue"/>
              <a:ea typeface="Helvetica Neue"/>
              <a:cs typeface="Helvetica Neue"/>
              <a:sym typeface="Helvetica Neue"/>
            </a:endParaRPr>
          </a:p>
          <a:p>
            <a:pPr indent="0" lvl="0" marL="0" rtl="0" algn="ctr">
              <a:lnSpc>
                <a:spcPct val="115000"/>
              </a:lnSpc>
              <a:spcBef>
                <a:spcPts val="0"/>
              </a:spcBef>
              <a:spcAft>
                <a:spcPts val="0"/>
              </a:spcAft>
              <a:buClr>
                <a:schemeClr val="dk1"/>
              </a:buClr>
              <a:buSzPts val="1100"/>
              <a:buFont typeface="Arial"/>
              <a:buNone/>
            </a:pPr>
            <a:r>
              <a:rPr lang="en-US" sz="3800">
                <a:solidFill>
                  <a:schemeClr val="lt1"/>
                </a:solidFill>
                <a:latin typeface="Helvetica Neue"/>
                <a:ea typeface="Helvetica Neue"/>
                <a:cs typeface="Helvetica Neue"/>
                <a:sym typeface="Helvetica Neue"/>
              </a:rPr>
              <a:t>SIFT is meant to be an easy-to-run, smooth application. As such:</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We switched from Python to Javascript for its robust application support and distributability</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Our front-end team, </a:t>
            </a:r>
            <a:r>
              <a:rPr i="1" lang="en-US" sz="3800">
                <a:solidFill>
                  <a:schemeClr val="lt1"/>
                </a:solidFill>
                <a:latin typeface="Helvetica Neue"/>
                <a:ea typeface="Helvetica Neue"/>
                <a:cs typeface="Helvetica Neue"/>
                <a:sym typeface="Helvetica Neue"/>
              </a:rPr>
              <a:t>Abrar Zaki </a:t>
            </a:r>
            <a:r>
              <a:rPr lang="en-US" sz="3800">
                <a:solidFill>
                  <a:schemeClr val="lt1"/>
                </a:solidFill>
                <a:latin typeface="Helvetica Neue"/>
                <a:ea typeface="Helvetica Neue"/>
                <a:cs typeface="Helvetica Neue"/>
                <a:sym typeface="Helvetica Neue"/>
              </a:rPr>
              <a:t>and </a:t>
            </a:r>
            <a:r>
              <a:rPr i="1" lang="en-US" sz="3800">
                <a:solidFill>
                  <a:schemeClr val="lt1"/>
                </a:solidFill>
                <a:latin typeface="Helvetica Neue"/>
                <a:ea typeface="Helvetica Neue"/>
                <a:cs typeface="Helvetica Neue"/>
                <a:sym typeface="Helvetica Neue"/>
              </a:rPr>
              <a:t>Joshua Javillo, </a:t>
            </a:r>
            <a:r>
              <a:rPr lang="en-US" sz="3800">
                <a:solidFill>
                  <a:schemeClr val="lt1"/>
                </a:solidFill>
                <a:latin typeface="Helvetica Neue"/>
                <a:ea typeface="Helvetica Neue"/>
                <a:cs typeface="Helvetica Neue"/>
                <a:sym typeface="Helvetica Neue"/>
              </a:rPr>
              <a:t>worked to create the UI in Javascript</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Our back-end team, </a:t>
            </a:r>
            <a:r>
              <a:rPr i="1" lang="en-US" sz="3800">
                <a:solidFill>
                  <a:schemeClr val="lt1"/>
                </a:solidFill>
                <a:latin typeface="Helvetica Neue"/>
                <a:ea typeface="Helvetica Neue"/>
                <a:cs typeface="Helvetica Neue"/>
                <a:sym typeface="Helvetica Neue"/>
              </a:rPr>
              <a:t>Abedalah Safi</a:t>
            </a:r>
            <a:r>
              <a:rPr lang="en-US" sz="3800">
                <a:solidFill>
                  <a:schemeClr val="lt1"/>
                </a:solidFill>
                <a:latin typeface="Helvetica Neue"/>
                <a:ea typeface="Helvetica Neue"/>
                <a:cs typeface="Helvetica Neue"/>
                <a:sym typeface="Helvetica Neue"/>
              </a:rPr>
              <a:t>, </a:t>
            </a:r>
            <a:r>
              <a:rPr i="1" lang="en-US" sz="3800">
                <a:solidFill>
                  <a:schemeClr val="lt1"/>
                </a:solidFill>
                <a:latin typeface="Helvetica Neue"/>
                <a:ea typeface="Helvetica Neue"/>
                <a:cs typeface="Helvetica Neue"/>
                <a:sym typeface="Helvetica Neue"/>
              </a:rPr>
              <a:t>Aleks Bekker, Ayaan Ahmad,</a:t>
            </a:r>
            <a:r>
              <a:rPr lang="en-US" sz="3800">
                <a:solidFill>
                  <a:schemeClr val="lt1"/>
                </a:solidFill>
                <a:latin typeface="Helvetica Neue"/>
                <a:ea typeface="Helvetica Neue"/>
                <a:cs typeface="Helvetica Neue"/>
                <a:sym typeface="Helvetica Neue"/>
              </a:rPr>
              <a:t> and </a:t>
            </a:r>
            <a:r>
              <a:rPr i="1" lang="en-US" sz="3800">
                <a:solidFill>
                  <a:schemeClr val="lt1"/>
                </a:solidFill>
                <a:latin typeface="Helvetica Neue"/>
                <a:ea typeface="Helvetica Neue"/>
                <a:cs typeface="Helvetica Neue"/>
                <a:sym typeface="Helvetica Neue"/>
              </a:rPr>
              <a:t>Steven Huynh</a:t>
            </a:r>
            <a:r>
              <a:rPr lang="en-US" sz="3800">
                <a:solidFill>
                  <a:schemeClr val="lt1"/>
                </a:solidFill>
                <a:latin typeface="Helvetica Neue"/>
                <a:ea typeface="Helvetica Neue"/>
                <a:cs typeface="Helvetica Neue"/>
                <a:sym typeface="Helvetica Neue"/>
              </a:rPr>
              <a:t> worked on documentation, writing code, and developing the API</a:t>
            </a:r>
            <a:endParaRPr>
              <a:solidFill>
                <a:schemeClr val="lt1"/>
              </a:solidFill>
            </a:endParaRPr>
          </a:p>
        </p:txBody>
      </p:sp>
      <p:sp>
        <p:nvSpPr>
          <p:cNvPr id="50" name="Google Shape;50;p1"/>
          <p:cNvSpPr txBox="1"/>
          <p:nvPr>
            <p:ph idx="7" type="body"/>
          </p:nvPr>
        </p:nvSpPr>
        <p:spPr>
          <a:xfrm>
            <a:off x="23563850" y="5548750"/>
            <a:ext cx="74109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Materials and Methods</a:t>
            </a:r>
            <a:endParaRPr sz="4700">
              <a:solidFill>
                <a:schemeClr val="lt1"/>
              </a:solidFill>
              <a:latin typeface="Helvetica Neue"/>
              <a:ea typeface="Helvetica Neue"/>
              <a:cs typeface="Helvetica Neue"/>
              <a:sym typeface="Helvetica Neue"/>
            </a:endParaRPr>
          </a:p>
        </p:txBody>
      </p:sp>
      <p:sp>
        <p:nvSpPr>
          <p:cNvPr id="51" name="Google Shape;51;p1"/>
          <p:cNvSpPr txBox="1"/>
          <p:nvPr>
            <p:ph idx="8" type="body"/>
          </p:nvPr>
        </p:nvSpPr>
        <p:spPr>
          <a:xfrm>
            <a:off x="33492342" y="5548749"/>
            <a:ext cx="100470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Frontend/UI</a:t>
            </a:r>
            <a:endParaRPr sz="4700">
              <a:solidFill>
                <a:schemeClr val="lt1"/>
              </a:solidFill>
              <a:latin typeface="Helvetica Neue"/>
              <a:ea typeface="Helvetica Neue"/>
              <a:cs typeface="Helvetica Neue"/>
              <a:sym typeface="Helvetica Neue"/>
            </a:endParaRPr>
          </a:p>
        </p:txBody>
      </p:sp>
      <p:sp>
        <p:nvSpPr>
          <p:cNvPr id="52" name="Google Shape;52;p1"/>
          <p:cNvSpPr txBox="1"/>
          <p:nvPr>
            <p:ph idx="13" type="body"/>
          </p:nvPr>
        </p:nvSpPr>
        <p:spPr>
          <a:xfrm>
            <a:off x="33387742" y="20003713"/>
            <a:ext cx="100470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Future Goals</a:t>
            </a:r>
            <a:endParaRPr sz="4700">
              <a:solidFill>
                <a:schemeClr val="lt1"/>
              </a:solidFill>
              <a:latin typeface="Helvetica Neue"/>
              <a:ea typeface="Helvetica Neue"/>
              <a:cs typeface="Helvetica Neue"/>
              <a:sym typeface="Helvetica Neue"/>
            </a:endParaRPr>
          </a:p>
        </p:txBody>
      </p:sp>
      <p:sp>
        <p:nvSpPr>
          <p:cNvPr id="53" name="Google Shape;53;p1"/>
          <p:cNvSpPr txBox="1"/>
          <p:nvPr>
            <p:ph idx="14" type="body"/>
          </p:nvPr>
        </p:nvSpPr>
        <p:spPr>
          <a:xfrm>
            <a:off x="33387750" y="20818575"/>
            <a:ext cx="10052100" cy="7065000"/>
          </a:xfrm>
          <a:prstGeom prst="rect">
            <a:avLst/>
          </a:prstGeom>
          <a:noFill/>
          <a:ln>
            <a:noFill/>
          </a:ln>
        </p:spPr>
        <p:txBody>
          <a:bodyPr anchorCtr="0" anchor="t" bIns="228575" lIns="228575" spcFirstLastPara="1" rIns="228575" wrap="square" tIns="228575">
            <a:spAutoFit/>
          </a:bodyPr>
          <a:lstStyle/>
          <a:p>
            <a:pPr indent="0" lvl="0" marL="0" rtl="0" algn="l">
              <a:spcBef>
                <a:spcPts val="0"/>
              </a:spcBef>
              <a:spcAft>
                <a:spcPts val="0"/>
              </a:spcAft>
              <a:buClr>
                <a:schemeClr val="dk1"/>
              </a:buClr>
              <a:buSzPts val="1100"/>
              <a:buFont typeface="Arial"/>
              <a:buNone/>
            </a:pPr>
            <a:r>
              <a:rPr lang="en-US" sz="3900">
                <a:solidFill>
                  <a:schemeClr val="lt1"/>
                </a:solidFill>
                <a:latin typeface="Helvetica Neue"/>
                <a:ea typeface="Helvetica Neue"/>
                <a:cs typeface="Helvetica Neue"/>
                <a:sym typeface="Helvetica Neue"/>
              </a:rPr>
              <a:t>Some of the ideas and goals we have for the future include:</a:t>
            </a:r>
            <a:endParaRPr sz="3900">
              <a:solidFill>
                <a:schemeClr val="lt1"/>
              </a:solidFill>
              <a:latin typeface="Helvetica Neue"/>
              <a:ea typeface="Helvetica Neue"/>
              <a:cs typeface="Helvetica Neue"/>
              <a:sym typeface="Helvetica Neue"/>
            </a:endParaRPr>
          </a:p>
          <a:p>
            <a:pPr indent="-476250" lvl="0" marL="457200" rtl="0" algn="l">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Allowing users to select individual courses and have all the necessary resources already available for them without extra downloads</a:t>
            </a:r>
            <a:endParaRPr sz="3900">
              <a:solidFill>
                <a:schemeClr val="lt1"/>
              </a:solidFill>
              <a:latin typeface="Helvetica Neue"/>
              <a:ea typeface="Helvetica Neue"/>
              <a:cs typeface="Helvetica Neue"/>
              <a:sym typeface="Helvetica Neue"/>
            </a:endParaRPr>
          </a:p>
          <a:p>
            <a:pPr indent="-476250" lvl="0" marL="457200" rtl="0" algn="l">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Allowing professors to upload materials and manage their courses on the app to allow the features mentioned above</a:t>
            </a:r>
            <a:endParaRPr sz="3900">
              <a:solidFill>
                <a:schemeClr val="lt1"/>
              </a:solidFill>
              <a:latin typeface="Helvetica Neue"/>
              <a:ea typeface="Helvetica Neue"/>
              <a:cs typeface="Helvetica Neue"/>
              <a:sym typeface="Helvetica Neue"/>
            </a:endParaRPr>
          </a:p>
          <a:p>
            <a:pPr indent="-476250" lvl="0" marL="457200" rtl="0" algn="l">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Make the app distributable (through platforms such as Docker)</a:t>
            </a:r>
            <a:endParaRPr sz="3900">
              <a:solidFill>
                <a:schemeClr val="lt1"/>
              </a:solidFill>
              <a:latin typeface="Helvetica Neue"/>
              <a:ea typeface="Helvetica Neue"/>
              <a:cs typeface="Helvetica Neue"/>
              <a:sym typeface="Helvetica Neue"/>
            </a:endParaRPr>
          </a:p>
        </p:txBody>
      </p:sp>
      <p:sp>
        <p:nvSpPr>
          <p:cNvPr id="54" name="Google Shape;54;p1"/>
          <p:cNvSpPr txBox="1"/>
          <p:nvPr>
            <p:ph idx="15" type="body"/>
          </p:nvPr>
        </p:nvSpPr>
        <p:spPr>
          <a:xfrm>
            <a:off x="33390292" y="29260801"/>
            <a:ext cx="100470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Acknowledgements</a:t>
            </a:r>
            <a:endParaRPr sz="4700">
              <a:solidFill>
                <a:schemeClr val="lt1"/>
              </a:solidFill>
              <a:latin typeface="Helvetica Neue"/>
              <a:ea typeface="Helvetica Neue"/>
              <a:cs typeface="Helvetica Neue"/>
              <a:sym typeface="Helvetica Neue"/>
            </a:endParaRPr>
          </a:p>
        </p:txBody>
      </p:sp>
      <p:sp>
        <p:nvSpPr>
          <p:cNvPr id="55" name="Google Shape;55;p1"/>
          <p:cNvSpPr txBox="1"/>
          <p:nvPr>
            <p:ph idx="16" type="body"/>
          </p:nvPr>
        </p:nvSpPr>
        <p:spPr>
          <a:xfrm>
            <a:off x="33466500" y="30014851"/>
            <a:ext cx="10052100" cy="923400"/>
          </a:xfrm>
          <a:prstGeom prst="rect">
            <a:avLst/>
          </a:prstGeom>
          <a:noFill/>
          <a:ln>
            <a:noFill/>
          </a:ln>
        </p:spPr>
        <p:txBody>
          <a:bodyPr anchorCtr="0" anchor="t" bIns="228575" lIns="228575" spcFirstLastPara="1" rIns="228575" wrap="square" tIns="228575">
            <a:spAutoFit/>
          </a:bodyPr>
          <a:lstStyle/>
          <a:p>
            <a:pPr indent="-419100" lvl="0" marL="457200" rtl="0" algn="l">
              <a:lnSpc>
                <a:spcPct val="115000"/>
              </a:lnSpc>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RCOS professors, coordinators, and mentors</a:t>
            </a:r>
            <a:endParaRPr sz="3000">
              <a:solidFill>
                <a:schemeClr val="lt1"/>
              </a:solidFill>
              <a:latin typeface="Helvetica Neue"/>
              <a:ea typeface="Helvetica Neue"/>
              <a:cs typeface="Helvetica Neue"/>
              <a:sym typeface="Helvetica Neue"/>
            </a:endParaRPr>
          </a:p>
        </p:txBody>
      </p:sp>
      <p:sp>
        <p:nvSpPr>
          <p:cNvPr id="56" name="Google Shape;56;p1"/>
          <p:cNvSpPr txBox="1"/>
          <p:nvPr>
            <p:ph idx="19" type="body"/>
          </p:nvPr>
        </p:nvSpPr>
        <p:spPr>
          <a:xfrm>
            <a:off x="5932593" y="2789587"/>
            <a:ext cx="31998900" cy="1280100"/>
          </a:xfrm>
          <a:prstGeom prst="rect">
            <a:avLst/>
          </a:prstGeom>
          <a:noFill/>
          <a:ln>
            <a:noFill/>
          </a:ln>
        </p:spPr>
        <p:txBody>
          <a:bodyPr anchorCtr="1" anchor="t" bIns="45700" lIns="91425" spcFirstLastPara="1" rIns="91425" wrap="square" tIns="45700">
            <a:normAutofit fontScale="70000"/>
          </a:bodyPr>
          <a:lstStyle/>
          <a:p>
            <a:pPr indent="0" lvl="0" marL="0" rtl="0" algn="ctr">
              <a:spcBef>
                <a:spcPts val="0"/>
              </a:spcBef>
              <a:spcAft>
                <a:spcPts val="0"/>
              </a:spcAft>
              <a:buClr>
                <a:srgbClr val="1F3864"/>
              </a:buClr>
              <a:buSzPct val="100000"/>
              <a:buFont typeface="Calibri"/>
              <a:buNone/>
            </a:pPr>
            <a:r>
              <a:rPr i="1" lang="en-US">
                <a:solidFill>
                  <a:schemeClr val="lt1"/>
                </a:solidFill>
                <a:latin typeface="Helvetica Neue"/>
                <a:ea typeface="Helvetica Neue"/>
                <a:cs typeface="Helvetica Neue"/>
                <a:sym typeface="Helvetica Neue"/>
              </a:rPr>
              <a:t>Abedalah Safi, Abrar Zaki, Aleks Bekker, Ayaan Ahmad, Joshua Javillo, Steven Huynh</a:t>
            </a:r>
            <a:endParaRPr i="1">
              <a:solidFill>
                <a:schemeClr val="lt1"/>
              </a:solidFill>
              <a:latin typeface="Helvetica Neue"/>
              <a:ea typeface="Helvetica Neue"/>
              <a:cs typeface="Helvetica Neue"/>
              <a:sym typeface="Helvetica Neue"/>
            </a:endParaRPr>
          </a:p>
        </p:txBody>
      </p:sp>
      <p:sp>
        <p:nvSpPr>
          <p:cNvPr id="57" name="Google Shape;57;p1"/>
          <p:cNvSpPr txBox="1"/>
          <p:nvPr>
            <p:ph idx="20" type="body"/>
          </p:nvPr>
        </p:nvSpPr>
        <p:spPr>
          <a:xfrm>
            <a:off x="5932593" y="1151613"/>
            <a:ext cx="31998900" cy="1638000"/>
          </a:xfrm>
          <a:prstGeom prst="rect">
            <a:avLst/>
          </a:prstGeom>
          <a:noFill/>
          <a:ln>
            <a:noFill/>
          </a:ln>
        </p:spPr>
        <p:txBody>
          <a:bodyPr anchorCtr="1" anchor="t" bIns="45700" lIns="91425" spcFirstLastPara="1" rIns="91425" wrap="square" tIns="45700">
            <a:normAutofit lnSpcReduction="20000"/>
          </a:bodyPr>
          <a:lstStyle/>
          <a:p>
            <a:pPr indent="0" lvl="0" marL="0" rtl="0" algn="ctr">
              <a:spcBef>
                <a:spcPts val="0"/>
              </a:spcBef>
              <a:spcAft>
                <a:spcPts val="0"/>
              </a:spcAft>
              <a:buClr>
                <a:srgbClr val="1F3864"/>
              </a:buClr>
              <a:buSzPts val="11500"/>
              <a:buFont typeface="Calibri"/>
              <a:buNone/>
            </a:pPr>
            <a:r>
              <a:rPr lang="en-US">
                <a:solidFill>
                  <a:schemeClr val="lt1"/>
                </a:solidFill>
                <a:latin typeface="Helvetica Neue"/>
                <a:ea typeface="Helvetica Neue"/>
                <a:cs typeface="Helvetica Neue"/>
                <a:sym typeface="Helvetica Neue"/>
              </a:rPr>
              <a:t>SIFT: Submitty Instant Feedback and Testing</a:t>
            </a:r>
            <a:endParaRPr>
              <a:solidFill>
                <a:schemeClr val="lt1"/>
              </a:solidFill>
              <a:latin typeface="Helvetica Neue"/>
              <a:ea typeface="Helvetica Neue"/>
              <a:cs typeface="Helvetica Neue"/>
              <a:sym typeface="Helvetica Neue"/>
            </a:endParaRPr>
          </a:p>
        </p:txBody>
      </p:sp>
      <p:sp>
        <p:nvSpPr>
          <p:cNvPr id="58" name="Google Shape;58;p1"/>
          <p:cNvSpPr txBox="1"/>
          <p:nvPr>
            <p:ph idx="3" type="body"/>
          </p:nvPr>
        </p:nvSpPr>
        <p:spPr>
          <a:xfrm>
            <a:off x="472638" y="21742663"/>
            <a:ext cx="100506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Changes from last semester</a:t>
            </a:r>
            <a:endParaRPr sz="4700">
              <a:solidFill>
                <a:schemeClr val="lt1"/>
              </a:solidFill>
              <a:latin typeface="Helvetica Neue"/>
              <a:ea typeface="Helvetica Neue"/>
              <a:cs typeface="Helvetica Neue"/>
              <a:sym typeface="Helvetica Neue"/>
            </a:endParaRPr>
          </a:p>
        </p:txBody>
      </p:sp>
      <p:pic>
        <p:nvPicPr>
          <p:cNvPr id="59" name="Google Shape;59;p1"/>
          <p:cNvPicPr preferRelativeResize="0"/>
          <p:nvPr/>
        </p:nvPicPr>
        <p:blipFill>
          <a:blip r:embed="rId5">
            <a:alphaModFix/>
          </a:blip>
          <a:stretch>
            <a:fillRect/>
          </a:stretch>
        </p:blipFill>
        <p:spPr>
          <a:xfrm>
            <a:off x="38112199" y="1322074"/>
            <a:ext cx="2543175" cy="2543175"/>
          </a:xfrm>
          <a:prstGeom prst="rect">
            <a:avLst/>
          </a:prstGeom>
          <a:noFill/>
          <a:ln>
            <a:noFill/>
          </a:ln>
        </p:spPr>
      </p:pic>
      <p:pic>
        <p:nvPicPr>
          <p:cNvPr id="60" name="Google Shape;60;p1"/>
          <p:cNvPicPr preferRelativeResize="0"/>
          <p:nvPr/>
        </p:nvPicPr>
        <p:blipFill>
          <a:blip r:embed="rId6">
            <a:alphaModFix/>
          </a:blip>
          <a:stretch>
            <a:fillRect/>
          </a:stretch>
        </p:blipFill>
        <p:spPr>
          <a:xfrm>
            <a:off x="40975425" y="1322073"/>
            <a:ext cx="2543175" cy="2543175"/>
          </a:xfrm>
          <a:prstGeom prst="rect">
            <a:avLst/>
          </a:prstGeom>
          <a:noFill/>
          <a:ln>
            <a:noFill/>
          </a:ln>
        </p:spPr>
      </p:pic>
      <p:pic>
        <p:nvPicPr>
          <p:cNvPr id="61" name="Google Shape;61;p1"/>
          <p:cNvPicPr preferRelativeResize="0"/>
          <p:nvPr/>
        </p:nvPicPr>
        <p:blipFill>
          <a:blip r:embed="rId7">
            <a:alphaModFix/>
          </a:blip>
          <a:stretch>
            <a:fillRect/>
          </a:stretch>
        </p:blipFill>
        <p:spPr>
          <a:xfrm>
            <a:off x="22798838" y="6544675"/>
            <a:ext cx="1438600" cy="1438600"/>
          </a:xfrm>
          <a:prstGeom prst="rect">
            <a:avLst/>
          </a:prstGeom>
          <a:noFill/>
          <a:ln>
            <a:noFill/>
          </a:ln>
        </p:spPr>
      </p:pic>
      <p:pic>
        <p:nvPicPr>
          <p:cNvPr id="62" name="Google Shape;62;p1"/>
          <p:cNvPicPr preferRelativeResize="0"/>
          <p:nvPr/>
        </p:nvPicPr>
        <p:blipFill>
          <a:blip r:embed="rId8">
            <a:alphaModFix/>
          </a:blip>
          <a:stretch>
            <a:fillRect/>
          </a:stretch>
        </p:blipFill>
        <p:spPr>
          <a:xfrm>
            <a:off x="24527550" y="6482925"/>
            <a:ext cx="2543175" cy="1562100"/>
          </a:xfrm>
          <a:prstGeom prst="rect">
            <a:avLst/>
          </a:prstGeom>
          <a:noFill/>
          <a:ln>
            <a:noFill/>
          </a:ln>
        </p:spPr>
      </p:pic>
      <p:pic>
        <p:nvPicPr>
          <p:cNvPr id="63" name="Google Shape;63;p1"/>
          <p:cNvPicPr preferRelativeResize="0"/>
          <p:nvPr/>
        </p:nvPicPr>
        <p:blipFill rotWithShape="1">
          <a:blip r:embed="rId9">
            <a:alphaModFix/>
          </a:blip>
          <a:srcRect b="0" l="0" r="87635" t="0"/>
          <a:stretch/>
        </p:blipFill>
        <p:spPr>
          <a:xfrm>
            <a:off x="27332663" y="6482925"/>
            <a:ext cx="765648" cy="1562100"/>
          </a:xfrm>
          <a:prstGeom prst="rect">
            <a:avLst/>
          </a:prstGeom>
          <a:noFill/>
          <a:ln>
            <a:noFill/>
          </a:ln>
        </p:spPr>
      </p:pic>
      <p:pic>
        <p:nvPicPr>
          <p:cNvPr id="64" name="Google Shape;64;p1"/>
          <p:cNvPicPr preferRelativeResize="0"/>
          <p:nvPr/>
        </p:nvPicPr>
        <p:blipFill rotWithShape="1">
          <a:blip r:embed="rId10">
            <a:alphaModFix/>
          </a:blip>
          <a:srcRect b="16548" l="0" r="48773" t="0"/>
          <a:stretch/>
        </p:blipFill>
        <p:spPr>
          <a:xfrm>
            <a:off x="28297887" y="6543212"/>
            <a:ext cx="1438600" cy="1441530"/>
          </a:xfrm>
          <a:prstGeom prst="rect">
            <a:avLst/>
          </a:prstGeom>
          <a:noFill/>
          <a:ln>
            <a:noFill/>
          </a:ln>
        </p:spPr>
      </p:pic>
      <p:pic>
        <p:nvPicPr>
          <p:cNvPr id="65" name="Google Shape;65;p1"/>
          <p:cNvPicPr preferRelativeResize="0"/>
          <p:nvPr/>
        </p:nvPicPr>
        <p:blipFill>
          <a:blip r:embed="rId11">
            <a:alphaModFix/>
          </a:blip>
          <a:stretch>
            <a:fillRect/>
          </a:stretch>
        </p:blipFill>
        <p:spPr>
          <a:xfrm>
            <a:off x="29736492" y="6378463"/>
            <a:ext cx="2003266" cy="1771026"/>
          </a:xfrm>
          <a:prstGeom prst="rect">
            <a:avLst/>
          </a:prstGeom>
          <a:noFill/>
          <a:ln>
            <a:noFill/>
          </a:ln>
        </p:spPr>
      </p:pic>
      <p:pic>
        <p:nvPicPr>
          <p:cNvPr id="66" name="Google Shape;66;p1"/>
          <p:cNvPicPr preferRelativeResize="0"/>
          <p:nvPr/>
        </p:nvPicPr>
        <p:blipFill>
          <a:blip r:embed="rId12">
            <a:alphaModFix/>
          </a:blip>
          <a:stretch>
            <a:fillRect/>
          </a:stretch>
        </p:blipFill>
        <p:spPr>
          <a:xfrm>
            <a:off x="1358017" y="32003988"/>
            <a:ext cx="2543175" cy="810462"/>
          </a:xfrm>
          <a:prstGeom prst="rect">
            <a:avLst/>
          </a:prstGeom>
          <a:noFill/>
          <a:ln>
            <a:noFill/>
          </a:ln>
        </p:spPr>
      </p:pic>
      <p:sp>
        <p:nvSpPr>
          <p:cNvPr id="67" name="Google Shape;67;p1"/>
          <p:cNvSpPr txBox="1"/>
          <p:nvPr>
            <p:ph idx="8" type="body"/>
          </p:nvPr>
        </p:nvSpPr>
        <p:spPr>
          <a:xfrm>
            <a:off x="33405892" y="11745199"/>
            <a:ext cx="10047000" cy="9081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700">
                <a:solidFill>
                  <a:schemeClr val="lt1"/>
                </a:solidFill>
                <a:latin typeface="Helvetica Neue"/>
                <a:ea typeface="Helvetica Neue"/>
                <a:cs typeface="Helvetica Neue"/>
                <a:sym typeface="Helvetica Neue"/>
              </a:rPr>
              <a:t>Backend &amp; API</a:t>
            </a:r>
            <a:endParaRPr sz="4700">
              <a:solidFill>
                <a:schemeClr val="lt1"/>
              </a:solidFill>
              <a:latin typeface="Helvetica Neue"/>
              <a:ea typeface="Helvetica Neue"/>
              <a:cs typeface="Helvetica Neue"/>
              <a:sym typeface="Helvetica Neue"/>
            </a:endParaRPr>
          </a:p>
        </p:txBody>
      </p:sp>
      <p:sp>
        <p:nvSpPr>
          <p:cNvPr id="68" name="Google Shape;68;p1"/>
          <p:cNvSpPr txBox="1"/>
          <p:nvPr>
            <p:ph idx="9" type="body"/>
          </p:nvPr>
        </p:nvSpPr>
        <p:spPr>
          <a:xfrm>
            <a:off x="33387750" y="12622400"/>
            <a:ext cx="10047000" cy="6926400"/>
          </a:xfrm>
          <a:prstGeom prst="rect">
            <a:avLst/>
          </a:prstGeom>
          <a:noFill/>
          <a:ln>
            <a:noFill/>
          </a:ln>
        </p:spPr>
        <p:txBody>
          <a:bodyPr anchorCtr="0" anchor="t" bIns="228575" lIns="228575" spcFirstLastPara="1" rIns="228575" wrap="square" tIns="228575">
            <a:noAutofit/>
          </a:bodyPr>
          <a:lstStyle/>
          <a:p>
            <a:pPr indent="-476250" lvl="0" marL="4572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Request for assignment goes to API</a:t>
            </a:r>
            <a:endParaRPr sz="3900">
              <a:solidFill>
                <a:schemeClr val="lt1"/>
              </a:solidFill>
              <a:latin typeface="Helvetica Neue"/>
              <a:ea typeface="Helvetica Neue"/>
              <a:cs typeface="Helvetica Neue"/>
              <a:sym typeface="Helvetica Neue"/>
            </a:endParaRPr>
          </a:p>
          <a:p>
            <a:pPr indent="-476250" lvl="0" marL="4572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ExpressJS API used to store files for assignments</a:t>
            </a:r>
            <a:endParaRPr sz="3900">
              <a:solidFill>
                <a:schemeClr val="lt1"/>
              </a:solidFill>
              <a:latin typeface="Helvetica Neue"/>
              <a:ea typeface="Helvetica Neue"/>
              <a:cs typeface="Helvetica Neue"/>
              <a:sym typeface="Helvetica Neue"/>
            </a:endParaRPr>
          </a:p>
          <a:p>
            <a:pPr indent="-476250" lvl="0" marL="4572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Professors can call the API to GET and POST files for their assignments</a:t>
            </a:r>
            <a:endParaRPr sz="3900">
              <a:solidFill>
                <a:schemeClr val="lt1"/>
              </a:solidFill>
              <a:latin typeface="Helvetica Neue"/>
              <a:ea typeface="Helvetica Neue"/>
              <a:cs typeface="Helvetica Neue"/>
              <a:sym typeface="Helvetica Neue"/>
            </a:endParaRPr>
          </a:p>
          <a:p>
            <a:pPr indent="-476250" lvl="0" marL="4572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Assignment is retrieved from API</a:t>
            </a:r>
            <a:endParaRPr sz="3900">
              <a:solidFill>
                <a:schemeClr val="lt1"/>
              </a:solidFill>
              <a:latin typeface="Helvetica Neue"/>
              <a:ea typeface="Helvetica Neue"/>
              <a:cs typeface="Helvetica Neue"/>
              <a:sym typeface="Helvetica Neue"/>
            </a:endParaRPr>
          </a:p>
          <a:p>
            <a:pPr indent="-476250" lvl="0" marL="4572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Student code is run through a json config interpreter made in Go  </a:t>
            </a:r>
            <a:endParaRPr sz="3900">
              <a:solidFill>
                <a:schemeClr val="lt1"/>
              </a:solidFill>
              <a:latin typeface="Helvetica Neue"/>
              <a:ea typeface="Helvetica Neue"/>
              <a:cs typeface="Helvetica Neue"/>
              <a:sym typeface="Helvetica Neue"/>
            </a:endParaRPr>
          </a:p>
          <a:p>
            <a:pPr indent="-476250" lvl="0" marL="457200" rtl="0" algn="l">
              <a:lnSpc>
                <a:spcPct val="115000"/>
              </a:lnSpc>
              <a:spcBef>
                <a:spcPts val="0"/>
              </a:spcBef>
              <a:spcAft>
                <a:spcPts val="0"/>
              </a:spcAft>
              <a:buClr>
                <a:schemeClr val="lt1"/>
              </a:buClr>
              <a:buSzPts val="3900"/>
              <a:buFont typeface="Helvetica Neue"/>
              <a:buChar char="●"/>
            </a:pPr>
            <a:r>
              <a:rPr lang="en-US" sz="3900">
                <a:solidFill>
                  <a:schemeClr val="lt1"/>
                </a:solidFill>
                <a:latin typeface="Helvetica Neue"/>
                <a:ea typeface="Helvetica Neue"/>
                <a:cs typeface="Helvetica Neue"/>
                <a:sym typeface="Helvetica Neue"/>
              </a:rPr>
              <a:t>Checked for compliance with the rules in the json retrieved from the API.</a:t>
            </a:r>
            <a:endParaRPr sz="3900">
              <a:solidFill>
                <a:schemeClr val="lt1"/>
              </a:solidFill>
              <a:latin typeface="Helvetica Neue"/>
              <a:ea typeface="Helvetica Neue"/>
              <a:cs typeface="Helvetica Neue"/>
              <a:sym typeface="Helvetica Neue"/>
            </a:endParaRPr>
          </a:p>
        </p:txBody>
      </p:sp>
      <p:pic>
        <p:nvPicPr>
          <p:cNvPr id="69" name="Google Shape;69;p1"/>
          <p:cNvPicPr preferRelativeResize="0"/>
          <p:nvPr/>
        </p:nvPicPr>
        <p:blipFill>
          <a:blip r:embed="rId13">
            <a:alphaModFix/>
          </a:blip>
          <a:stretch>
            <a:fillRect/>
          </a:stretch>
        </p:blipFill>
        <p:spPr>
          <a:xfrm>
            <a:off x="11916127" y="18467513"/>
            <a:ext cx="10047000" cy="5651451"/>
          </a:xfrm>
          <a:prstGeom prst="rect">
            <a:avLst/>
          </a:prstGeom>
          <a:solidFill>
            <a:srgbClr val="8C8C8C">
              <a:alpha val="70890"/>
            </a:srgbClr>
          </a:solidFill>
          <a:ln>
            <a:noFill/>
          </a:ln>
        </p:spPr>
      </p:pic>
      <p:pic>
        <p:nvPicPr>
          <p:cNvPr id="70" name="Google Shape;70;p1"/>
          <p:cNvPicPr preferRelativeResize="0"/>
          <p:nvPr/>
        </p:nvPicPr>
        <p:blipFill>
          <a:blip r:embed="rId14">
            <a:alphaModFix/>
          </a:blip>
          <a:stretch>
            <a:fillRect/>
          </a:stretch>
        </p:blipFill>
        <p:spPr>
          <a:xfrm>
            <a:off x="22169588" y="18480100"/>
            <a:ext cx="10047014" cy="5651451"/>
          </a:xfrm>
          <a:prstGeom prst="rect">
            <a:avLst/>
          </a:prstGeom>
          <a:solidFill>
            <a:srgbClr val="8C8C8C">
              <a:alpha val="70890"/>
            </a:srgbClr>
          </a:solidFill>
          <a:ln>
            <a:noFill/>
          </a:ln>
        </p:spPr>
      </p:pic>
      <p:pic>
        <p:nvPicPr>
          <p:cNvPr id="71" name="Google Shape;71;p1"/>
          <p:cNvPicPr preferRelativeResize="0"/>
          <p:nvPr/>
        </p:nvPicPr>
        <p:blipFill>
          <a:blip r:embed="rId15">
            <a:alphaModFix/>
          </a:blip>
          <a:stretch>
            <a:fillRect/>
          </a:stretch>
        </p:blipFill>
        <p:spPr>
          <a:xfrm>
            <a:off x="11910425" y="24286425"/>
            <a:ext cx="10058400" cy="5657839"/>
          </a:xfrm>
          <a:prstGeom prst="rect">
            <a:avLst/>
          </a:prstGeom>
          <a:solidFill>
            <a:srgbClr val="8C8C8C">
              <a:alpha val="70890"/>
            </a:srgbClr>
          </a:solidFill>
          <a:ln>
            <a:noFill/>
          </a:ln>
        </p:spPr>
      </p:pic>
      <p:pic>
        <p:nvPicPr>
          <p:cNvPr id="72" name="Google Shape;72;p1"/>
          <p:cNvPicPr preferRelativeResize="0"/>
          <p:nvPr/>
        </p:nvPicPr>
        <p:blipFill>
          <a:blip r:embed="rId16">
            <a:alphaModFix/>
          </a:blip>
          <a:stretch>
            <a:fillRect/>
          </a:stretch>
        </p:blipFill>
        <p:spPr>
          <a:xfrm>
            <a:off x="22171919" y="24289632"/>
            <a:ext cx="10047000" cy="5651438"/>
          </a:xfrm>
          <a:prstGeom prst="rect">
            <a:avLst/>
          </a:prstGeom>
          <a:solidFill>
            <a:srgbClr val="8C8C8C">
              <a:alpha val="70890"/>
            </a:srgbClr>
          </a:solidFill>
          <a:ln>
            <a:noFill/>
          </a:ln>
        </p:spPr>
      </p:pic>
    </p:spTree>
  </p:cSld>
  <p:clrMapOvr>
    <a:masterClrMapping/>
  </p:clrMapOvr>
</p:sld>
</file>

<file path=ppt/theme/theme1.xml><?xml version="1.0" encoding="utf-8"?>
<a:theme xmlns:a="http://schemas.openxmlformats.org/drawingml/2006/main" xmlns:r="http://schemas.openxmlformats.org/officeDocument/2006/relationships" name="36x48-Templat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2012-02-03T19:11:35Z</dcterms:created>
  <dc:creator>PosterPresentations.com</dc:creator>
</cp:coreProperties>
</file>