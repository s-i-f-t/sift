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32918400" cx="43891200"/>
  <p:notesSz cx="6858000" cy="9144000"/>
  <p:embeddedFontLst>
    <p:embeddedFont>
      <p:font typeface="Helvetica Neue"/>
      <p:regular r:id="rId8"/>
      <p:bold r:id="rId9"/>
      <p:italic r:id="rId10"/>
      <p:boldItalic r:id="rId11"/>
    </p:embeddedFont>
    <p:embeddedFont>
      <p:font typeface="Arial Black"/>
      <p:regular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p15:clr>
            <a:srgbClr val="A4A3A4"/>
          </p15:clr>
        </p15:guide>
        <p15:guide id="6" pos="27384">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13" roundtripDataSignature="AMtx7mh4FMsl5tdLKdFNHf0sWWaLJUP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1DDE7E-DA77-4664-8EEF-9E0650C0446A}">
  <a:tblStyle styleId="{221DDE7E-DA77-4664-8EEF-9E0650C0446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18" orient="horz"/>
        <p:guide pos="288" orient="horz"/>
        <p:guide pos="20160" orient="horz"/>
        <p:guide orient="horz"/>
        <p:guide pos="264"/>
        <p:guide pos="27384"/>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boldItalic.fntdata"/><Relationship Id="rId10" Type="http://schemas.openxmlformats.org/officeDocument/2006/relationships/font" Target="fonts/HelveticaNeue-italic.fntdata"/><Relationship Id="rId13" Type="http://customschemas.google.com/relationships/presentationmetadata" Target="metadata"/><Relationship Id="rId12" Type="http://schemas.openxmlformats.org/officeDocument/2006/relationships/font" Target="fonts/ArialBlac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HelveticaNe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Helvetica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 name="Google Shape;3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x48 template">
  <p:cSld name="36x48 template">
    <p:spTree>
      <p:nvGrpSpPr>
        <p:cNvPr id="13" name="Shape 13"/>
        <p:cNvGrpSpPr/>
        <p:nvPr/>
      </p:nvGrpSpPr>
      <p:grpSpPr>
        <a:xfrm>
          <a:off x="0" y="0"/>
          <a:ext cx="0" cy="0"/>
          <a:chOff x="0" y="0"/>
          <a:chExt cx="0" cy="0"/>
        </a:xfrm>
      </p:grpSpPr>
      <p:sp>
        <p:nvSpPr>
          <p:cNvPr id="14" name="Google Shape;14;p3"/>
          <p:cNvSpPr txBox="1"/>
          <p:nvPr>
            <p:ph idx="1" type="body"/>
          </p:nvPr>
        </p:nvSpPr>
        <p:spPr>
          <a:xfrm>
            <a:off x="459674" y="6378481"/>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5" name="Google Shape;15;p3"/>
          <p:cNvSpPr txBox="1"/>
          <p:nvPr>
            <p:ph idx="2" type="body"/>
          </p:nvPr>
        </p:nvSpPr>
        <p:spPr>
          <a:xfrm>
            <a:off x="477827"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6" name="Google Shape;16;p3"/>
          <p:cNvSpPr txBox="1"/>
          <p:nvPr>
            <p:ph idx="3" type="body"/>
          </p:nvPr>
        </p:nvSpPr>
        <p:spPr>
          <a:xfrm>
            <a:off x="477825" y="14212513"/>
            <a:ext cx="10050462"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 name="Google Shape;17;p3"/>
          <p:cNvSpPr txBox="1"/>
          <p:nvPr>
            <p:ph idx="4" type="body"/>
          </p:nvPr>
        </p:nvSpPr>
        <p:spPr>
          <a:xfrm>
            <a:off x="11460161"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 name="Google Shape;18;p3"/>
          <p:cNvSpPr txBox="1"/>
          <p:nvPr>
            <p:ph idx="5" type="body"/>
          </p:nvPr>
        </p:nvSpPr>
        <p:spPr>
          <a:xfrm>
            <a:off x="11460162"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 name="Google Shape;19;p3"/>
          <p:cNvSpPr txBox="1"/>
          <p:nvPr>
            <p:ph idx="6" type="body"/>
          </p:nvPr>
        </p:nvSpPr>
        <p:spPr>
          <a:xfrm>
            <a:off x="22385343"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 name="Google Shape;20;p3"/>
          <p:cNvSpPr txBox="1"/>
          <p:nvPr>
            <p:ph idx="7" type="body"/>
          </p:nvPr>
        </p:nvSpPr>
        <p:spPr>
          <a:xfrm>
            <a:off x="22377404" y="5548749"/>
            <a:ext cx="1005840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1" name="Google Shape;21;p3"/>
          <p:cNvSpPr txBox="1"/>
          <p:nvPr>
            <p:ph idx="8" type="body"/>
          </p:nvPr>
        </p:nvSpPr>
        <p:spPr>
          <a:xfrm>
            <a:off x="33390292" y="5548749"/>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2" name="Google Shape;22;p3"/>
          <p:cNvSpPr txBox="1"/>
          <p:nvPr>
            <p:ph idx="9" type="body"/>
          </p:nvPr>
        </p:nvSpPr>
        <p:spPr>
          <a:xfrm>
            <a:off x="33390292" y="6378481"/>
            <a:ext cx="1004701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3" name="Google Shape;23;p3"/>
          <p:cNvSpPr txBox="1"/>
          <p:nvPr>
            <p:ph idx="13" type="body"/>
          </p:nvPr>
        </p:nvSpPr>
        <p:spPr>
          <a:xfrm>
            <a:off x="33390292" y="14272738"/>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4" name="Google Shape;24;p3"/>
          <p:cNvSpPr txBox="1"/>
          <p:nvPr>
            <p:ph idx="14" type="body"/>
          </p:nvPr>
        </p:nvSpPr>
        <p:spPr>
          <a:xfrm>
            <a:off x="33390292" y="15011402"/>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5" name="Google Shape;25;p3"/>
          <p:cNvSpPr txBox="1"/>
          <p:nvPr>
            <p:ph idx="15" type="body"/>
          </p:nvPr>
        </p:nvSpPr>
        <p:spPr>
          <a:xfrm>
            <a:off x="33390292" y="25679401"/>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6" name="Google Shape;26;p3"/>
          <p:cNvSpPr txBox="1"/>
          <p:nvPr>
            <p:ph idx="16" type="body"/>
          </p:nvPr>
        </p:nvSpPr>
        <p:spPr>
          <a:xfrm>
            <a:off x="33390292" y="26433446"/>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7" name="Google Shape;27;p3"/>
          <p:cNvSpPr txBox="1"/>
          <p:nvPr>
            <p:ph idx="17" type="body"/>
          </p:nvPr>
        </p:nvSpPr>
        <p:spPr>
          <a:xfrm>
            <a:off x="459674" y="14951552"/>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8" name="Google Shape;28;p3"/>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1F3864"/>
              </a:buClr>
              <a:buSzPts val="6000"/>
              <a:buFont typeface="Arial"/>
              <a:buNone/>
              <a:defRPr b="0" i="0" sz="60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9" name="Google Shape;29;p3"/>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1F3864"/>
              </a:buClr>
              <a:buSzPts val="8800"/>
              <a:buFont typeface="Arial"/>
              <a:buNone/>
              <a:defRPr b="0" i="0" sz="88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0" name="Google Shape;30;p3"/>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1F3864"/>
              </a:buClr>
              <a:buSzPts val="11500"/>
              <a:buFont typeface="Arial"/>
              <a:buNone/>
              <a:defRPr b="1" i="0" sz="115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s://www.posterpresentations.com/how-to-change-the-research-poster-template-colors.html" TargetMode="External"/><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nvSpPr>
        <p:spPr>
          <a:xfrm>
            <a:off x="1567305" y="32390910"/>
            <a:ext cx="2514600" cy="341436"/>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i="0" lang="en-US" sz="500" u="none" cap="none" strike="noStrike">
                <a:solidFill>
                  <a:srgbClr val="BFBFBF"/>
                </a:solidFill>
                <a:latin typeface="Arial"/>
                <a:ea typeface="Arial"/>
                <a:cs typeface="Arial"/>
                <a:sym typeface="Arial"/>
              </a:rPr>
              <a:t>RESEARCH POSTER PRESENTATION DESIGN © 2019</a:t>
            </a:r>
            <a:endParaRPr/>
          </a:p>
          <a:p>
            <a:pPr indent="0" lvl="0" marL="0" marR="0" rtl="0" algn="l">
              <a:lnSpc>
                <a:spcPct val="65000"/>
              </a:lnSpc>
              <a:spcBef>
                <a:spcPts val="550"/>
              </a:spcBef>
              <a:spcAft>
                <a:spcPts val="0"/>
              </a:spcAft>
              <a:buNone/>
            </a:pPr>
            <a:r>
              <a:rPr b="1" i="0" lang="en-US" sz="1100" u="none" cap="none" strike="noStrike">
                <a:solidFill>
                  <a:srgbClr val="BFBFBF"/>
                </a:solidFill>
                <a:latin typeface="Arial"/>
                <a:ea typeface="Arial"/>
                <a:cs typeface="Arial"/>
                <a:sym typeface="Arial"/>
              </a:rPr>
              <a:t>www.PosterPresentations.com</a:t>
            </a:r>
            <a:endParaRPr/>
          </a:p>
        </p:txBody>
      </p:sp>
      <p:graphicFrame>
        <p:nvGraphicFramePr>
          <p:cNvPr id="11" name="Google Shape;11;p2"/>
          <p:cNvGraphicFramePr/>
          <p:nvPr/>
        </p:nvGraphicFramePr>
        <p:xfrm>
          <a:off x="-10611120" y="14098"/>
          <a:ext cx="3000000" cy="3000000"/>
        </p:xfrm>
        <a:graphic>
          <a:graphicData uri="http://schemas.openxmlformats.org/drawingml/2006/table">
            <a:tbl>
              <a:tblPr bandRow="1" firstRow="1">
                <a:noFill/>
                <a:tableStyleId>{221DDE7E-DA77-4664-8EEF-9E0650C0446A}</a:tableStyleId>
              </a:tblPr>
              <a:tblGrid>
                <a:gridCol w="4192250"/>
                <a:gridCol w="5584625"/>
              </a:tblGrid>
              <a:tr h="1329125">
                <a:tc gridSpan="2">
                  <a:txBody>
                    <a:bodyPr/>
                    <a:lstStyle/>
                    <a:p>
                      <a:pPr indent="0" lvl="0" marL="0" marR="0" rtl="0" algn="ctr">
                        <a:lnSpc>
                          <a:spcPct val="100000"/>
                        </a:lnSpc>
                        <a:spcBef>
                          <a:spcPts val="0"/>
                        </a:spcBef>
                        <a:spcAft>
                          <a:spcPts val="0"/>
                        </a:spcAft>
                        <a:buClr>
                          <a:srgbClr val="1F3A4E"/>
                        </a:buClr>
                        <a:buSzPts val="3600"/>
                        <a:buFont typeface="Arial Black"/>
                        <a:buNone/>
                      </a:pPr>
                      <a:r>
                        <a:rPr b="0" lang="en-US" sz="3600" u="none" cap="none" strike="noStrike">
                          <a:solidFill>
                            <a:srgbClr val="1F3A4E"/>
                          </a:solidFill>
                          <a:latin typeface="Arial Black"/>
                          <a:ea typeface="Arial Black"/>
                          <a:cs typeface="Arial Black"/>
                          <a:sym typeface="Arial Black"/>
                        </a:rPr>
                        <a:t>QUICK START GUIDE</a:t>
                      </a:r>
                      <a:br>
                        <a:rPr b="0" lang="en-US" sz="3600" u="none" cap="none" strike="noStrike">
                          <a:solidFill>
                            <a:srgbClr val="1F3A4E"/>
                          </a:solidFill>
                          <a:latin typeface="Arial Black"/>
                          <a:ea typeface="Arial Black"/>
                          <a:cs typeface="Arial Black"/>
                          <a:sym typeface="Arial Black"/>
                        </a:rPr>
                      </a:br>
                      <a:r>
                        <a:rPr b="1" lang="en-US" sz="2800" u="none" cap="none" strike="noStrike">
                          <a:solidFill>
                            <a:srgbClr val="FF0000"/>
                          </a:solidFill>
                          <a:latin typeface="Trebuchet MS"/>
                          <a:ea typeface="Trebuchet MS"/>
                          <a:cs typeface="Trebuchet MS"/>
                          <a:sym typeface="Trebuchet MS"/>
                        </a:rPr>
                        <a:t>(THIS SIDEBAR WILL NOT PRINT)</a:t>
                      </a:r>
                      <a:endParaRPr b="1" sz="3600" u="none" cap="none" strike="noStrike">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r>
              <a:tr h="4206625">
                <a:tc gridSpan="2">
                  <a:txBody>
                    <a:bodyPr/>
                    <a:lstStyle/>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This PowerPoint template produces a </a:t>
                      </a:r>
                      <a:r>
                        <a:rPr i="0" lang="en-US" sz="2000" u="none" cap="none" strike="noStrike">
                          <a:solidFill>
                            <a:srgbClr val="FFC000"/>
                          </a:solidFill>
                          <a:latin typeface="Arial"/>
                          <a:ea typeface="Arial"/>
                          <a:cs typeface="Arial"/>
                          <a:sym typeface="Arial"/>
                        </a:rPr>
                        <a:t>36"x48" </a:t>
                      </a:r>
                      <a:r>
                        <a:rPr i="0" lang="en-US" sz="2000" u="none" cap="none" strike="noStrik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indent="0" lvl="0" marL="0" marR="0" rtl="0" algn="l">
                        <a:spcBef>
                          <a:spcPts val="0"/>
                        </a:spcBef>
                        <a:spcAft>
                          <a:spcPts val="0"/>
                        </a:spcAft>
                        <a:buNone/>
                      </a:pPr>
                      <a:r>
                        <a:t/>
                      </a:r>
                      <a:endParaRPr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i="0" lang="en-US" sz="2000" u="none" cap="none" strike="noStrike">
                          <a:solidFill>
                            <a:srgbClr val="FFC000"/>
                          </a:solidFill>
                          <a:latin typeface="Arial"/>
                          <a:ea typeface="Arial"/>
                          <a:cs typeface="Arial"/>
                          <a:sym typeface="Arial"/>
                        </a:rPr>
                        <a:t>PosterPresentations.com</a:t>
                      </a:r>
                      <a:r>
                        <a:rPr i="0" lang="en-US" sz="2000" u="none" cap="none" strike="noStrike">
                          <a:solidFill>
                            <a:srgbClr val="D9D9D9"/>
                          </a:solidFill>
                          <a:latin typeface="Arial"/>
                          <a:ea typeface="Arial"/>
                          <a:cs typeface="Arial"/>
                          <a:sym typeface="Arial"/>
                        </a:rPr>
                        <a:t> and click on the  </a:t>
                      </a:r>
                      <a:r>
                        <a:rPr i="0" lang="en-US" sz="2000" u="none" cap="none" strike="noStrike">
                          <a:solidFill>
                            <a:srgbClr val="FFC000"/>
                          </a:solidFill>
                          <a:latin typeface="Arial"/>
                          <a:ea typeface="Arial"/>
                          <a:cs typeface="Arial"/>
                          <a:sym typeface="Arial"/>
                        </a:rPr>
                        <a:t>HELP DESK</a:t>
                      </a:r>
                      <a:r>
                        <a:rPr i="0" lang="en-US" sz="2000" u="none" cap="none" strike="noStrike">
                          <a:solidFill>
                            <a:srgbClr val="D9D9D9"/>
                          </a:solidFill>
                          <a:latin typeface="Arial"/>
                          <a:ea typeface="Arial"/>
                          <a:cs typeface="Arial"/>
                          <a:sym typeface="Arial"/>
                        </a:rPr>
                        <a:t> tab.</a:t>
                      </a:r>
                      <a:endParaRPr/>
                    </a:p>
                    <a:p>
                      <a:pPr indent="0" lvl="0" marL="0" marR="0" rtl="0" algn="l">
                        <a:spcBef>
                          <a:spcPts val="0"/>
                        </a:spcBef>
                        <a:spcAft>
                          <a:spcPts val="0"/>
                        </a:spcAft>
                        <a:buNone/>
                      </a:pPr>
                      <a:r>
                        <a:t/>
                      </a:r>
                      <a:endParaRPr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000" u="none" cap="none" strike="noStrike">
                          <a:solidFill>
                            <a:srgbClr val="D9D9D9"/>
                          </a:solidFill>
                          <a:latin typeface="Arial"/>
                          <a:ea typeface="Arial"/>
                          <a:cs typeface="Arial"/>
                          <a:sym typeface="Arial"/>
                        </a:rPr>
                        <a:t>To print your poster using our same-day professional printing service, go online to </a:t>
                      </a:r>
                      <a:r>
                        <a:rPr i="0" lang="en-US" sz="2000" u="none" cap="none" strike="noStrike">
                          <a:solidFill>
                            <a:srgbClr val="FFC000"/>
                          </a:solidFill>
                          <a:latin typeface="Arial"/>
                          <a:ea typeface="Arial"/>
                          <a:cs typeface="Arial"/>
                          <a:sym typeface="Arial"/>
                        </a:rPr>
                        <a:t>PosterPresentations.com</a:t>
                      </a:r>
                      <a:r>
                        <a:rPr i="0" lang="en-US" sz="2000" u="none" cap="none" strike="noStrike">
                          <a:solidFill>
                            <a:srgbClr val="D9D9D9"/>
                          </a:solidFill>
                          <a:latin typeface="Arial"/>
                          <a:ea typeface="Arial"/>
                          <a:cs typeface="Arial"/>
                          <a:sym typeface="Arial"/>
                        </a:rPr>
                        <a:t> and click on "</a:t>
                      </a:r>
                      <a:r>
                        <a:rPr i="0" lang="en-US" sz="2000" u="none" cap="none" strike="noStrike">
                          <a:solidFill>
                            <a:srgbClr val="FFC000"/>
                          </a:solidFill>
                          <a:latin typeface="Arial"/>
                          <a:ea typeface="Arial"/>
                          <a:cs typeface="Arial"/>
                          <a:sym typeface="Arial"/>
                        </a:rPr>
                        <a:t>Order your poster</a:t>
                      </a:r>
                      <a:r>
                        <a:rPr i="0" lang="en-US" sz="2000" u="none" cap="none" strike="noStrike">
                          <a:solidFill>
                            <a:srgbClr val="D9D9D9"/>
                          </a:solidFill>
                          <a:latin typeface="Arial"/>
                          <a:ea typeface="Arial"/>
                          <a:cs typeface="Arial"/>
                          <a:sym typeface="Arial"/>
                        </a:rPr>
                        <a:t>".</a:t>
                      </a:r>
                      <a:endParaRPr b="1" sz="2000" u="none" cap="none" strike="noStrike">
                        <a:solidFill>
                          <a:srgbClr val="D9D9D9"/>
                        </a:solidFill>
                        <a:latin typeface="Arial"/>
                        <a:ea typeface="Arial"/>
                        <a:cs typeface="Arial"/>
                        <a:sym typeface="Arial"/>
                      </a:endParaRPr>
                    </a:p>
                  </a:txBody>
                  <a:tcPr marT="137150" marB="45725" marR="91450" marL="182875">
                    <a:solidFill>
                      <a:srgbClr val="010101"/>
                    </a:solidFill>
                  </a:tcPr>
                </a:tc>
                <a:tc hMerge="1"/>
              </a:tr>
              <a:tr h="4572425">
                <a:tc>
                  <a:txBody>
                    <a:bodyPr/>
                    <a:lstStyle/>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rPr lang="en-US" sz="2000" u="none" cap="none" strike="noStrike">
                          <a:solidFill>
                            <a:schemeClr val="lt1"/>
                          </a:solidFill>
                          <a:latin typeface="Arial"/>
                          <a:ea typeface="Arial"/>
                          <a:cs typeface="Arial"/>
                          <a:sym typeface="Arial"/>
                        </a:rPr>
                        <a:t>This is a template for a </a:t>
                      </a:r>
                      <a:endParaRPr/>
                    </a:p>
                    <a:p>
                      <a:pPr indent="0" lvl="0" marL="0" marR="0" rtl="0" algn="ctr">
                        <a:spcBef>
                          <a:spcPts val="0"/>
                        </a:spcBef>
                        <a:spcAft>
                          <a:spcPts val="0"/>
                        </a:spcAft>
                        <a:buNone/>
                      </a:pPr>
                      <a:r>
                        <a:rPr lang="en-US" sz="2000" u="none" cap="none" strike="noStrike">
                          <a:solidFill>
                            <a:schemeClr val="lt1"/>
                          </a:solidFill>
                          <a:latin typeface="Arial"/>
                          <a:ea typeface="Arial"/>
                          <a:cs typeface="Arial"/>
                          <a:sym typeface="Arial"/>
                        </a:rPr>
                        <a:t>presentation poster</a:t>
                      </a:r>
                      <a:br>
                        <a:rPr lang="en-US" sz="2000" u="none" cap="none" strike="noStrike">
                          <a:solidFill>
                            <a:schemeClr val="lt1"/>
                          </a:solidFill>
                          <a:latin typeface="Arial"/>
                          <a:ea typeface="Arial"/>
                          <a:cs typeface="Arial"/>
                          <a:sym typeface="Arial"/>
                        </a:rPr>
                      </a:br>
                      <a:r>
                        <a:rPr b="1" lang="en-US" sz="3600" u="none" cap="none" strike="noStrike">
                          <a:solidFill>
                            <a:srgbClr val="FFC000"/>
                          </a:solidFill>
                          <a:latin typeface="Arial"/>
                          <a:ea typeface="Arial"/>
                          <a:cs typeface="Arial"/>
                          <a:sym typeface="Arial"/>
                        </a:rPr>
                        <a:t>36 inches tall</a:t>
                      </a:r>
                      <a:br>
                        <a:rPr b="1" lang="en-US" sz="3600" u="none" cap="none" strike="noStrike">
                          <a:solidFill>
                            <a:srgbClr val="FFC000"/>
                          </a:solidFill>
                          <a:latin typeface="Arial"/>
                          <a:ea typeface="Arial"/>
                          <a:cs typeface="Arial"/>
                          <a:sym typeface="Arial"/>
                        </a:rPr>
                      </a:br>
                      <a:r>
                        <a:rPr b="1" lang="en-US" sz="3600" u="none" cap="none" strike="noStrike">
                          <a:solidFill>
                            <a:srgbClr val="FFC000"/>
                          </a:solidFill>
                          <a:latin typeface="Arial"/>
                          <a:ea typeface="Arial"/>
                          <a:cs typeface="Arial"/>
                          <a:sym typeface="Arial"/>
                        </a:rPr>
                        <a:t>by</a:t>
                      </a:r>
                      <a:br>
                        <a:rPr b="1" lang="en-US" sz="3600" u="none" cap="none" strike="noStrike">
                          <a:solidFill>
                            <a:srgbClr val="FFC000"/>
                          </a:solidFill>
                          <a:latin typeface="Arial"/>
                          <a:ea typeface="Arial"/>
                          <a:cs typeface="Arial"/>
                          <a:sym typeface="Arial"/>
                        </a:rPr>
                      </a:br>
                      <a:r>
                        <a:rPr b="1" lang="en-US" sz="3600" u="none" cap="none" strike="noStrike">
                          <a:solidFill>
                            <a:srgbClr val="FFC000"/>
                          </a:solidFill>
                          <a:latin typeface="Arial"/>
                          <a:ea typeface="Arial"/>
                          <a:cs typeface="Arial"/>
                          <a:sym typeface="Arial"/>
                        </a:rPr>
                        <a:t>48 inches wide</a:t>
                      </a:r>
                      <a:br>
                        <a:rPr lang="en-US" sz="2000" u="none" cap="none" strike="noStrike">
                          <a:solidFill>
                            <a:schemeClr val="lt1"/>
                          </a:solidFill>
                          <a:latin typeface="Arial"/>
                          <a:ea typeface="Arial"/>
                          <a:cs typeface="Arial"/>
                          <a:sym typeface="Arial"/>
                        </a:rPr>
                      </a:br>
                      <a:endParaRPr sz="2000" u="none" cap="none" strike="noStrike">
                        <a:solidFill>
                          <a:srgbClr val="1F3A4E"/>
                        </a:solidFill>
                      </a:endParaRPr>
                    </a:p>
                  </a:txBody>
                  <a:tcPr marT="45725" marB="45725" marR="91450" marL="91450">
                    <a:solidFill>
                      <a:srgbClr val="010101"/>
                    </a:solidFill>
                  </a:tcPr>
                </a:tc>
                <a:tc>
                  <a:txBody>
                    <a:bodyPr/>
                    <a:lstStyle/>
                    <a:p>
                      <a:pPr indent="0" lvl="0" marL="0" marR="0" rtl="0" algn="l">
                        <a:lnSpc>
                          <a:spcPct val="100000"/>
                        </a:lnSpc>
                        <a:spcBef>
                          <a:spcPts val="0"/>
                        </a:spcBef>
                        <a:spcAft>
                          <a:spcPts val="0"/>
                        </a:spcAft>
                        <a:buClr>
                          <a:srgbClr val="FFC000"/>
                        </a:buClr>
                        <a:buSzPts val="2400"/>
                        <a:buFont typeface="Arial"/>
                        <a:buNone/>
                      </a:pPr>
                      <a:r>
                        <a:rPr b="1" lang="en-US" sz="2400" u="none" cap="none" strike="noStrike">
                          <a:solidFill>
                            <a:srgbClr val="FFC000"/>
                          </a:solidFill>
                          <a:latin typeface="Arial"/>
                          <a:ea typeface="Arial"/>
                          <a:cs typeface="Arial"/>
                          <a:sym typeface="Arial"/>
                        </a:rPr>
                        <a:t>Important: Check the template size</a:t>
                      </a:r>
                      <a:br>
                        <a:rPr b="0" lang="en-US" sz="2000" u="none" cap="none" strike="noStrike">
                          <a:solidFill>
                            <a:srgbClr val="FFC000"/>
                          </a:solidFill>
                          <a:latin typeface="Arial"/>
                          <a:ea typeface="Arial"/>
                          <a:cs typeface="Arial"/>
                          <a:sym typeface="Arial"/>
                        </a:rPr>
                      </a:br>
                      <a:r>
                        <a:rPr b="0" lang="en-US" sz="2000" u="none" cap="none" strike="noStrik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b="0" lang="en-US" sz="2000" u="none" cap="none" strike="noStrike">
                          <a:solidFill>
                            <a:srgbClr val="D9D9D9"/>
                          </a:solidFill>
                          <a:latin typeface="Arial"/>
                          <a:ea typeface="Arial"/>
                          <a:cs typeface="Arial"/>
                          <a:sym typeface="Arial"/>
                        </a:rPr>
                      </a:br>
                      <a:r>
                        <a:rPr b="0" lang="en-US" sz="2000" u="none" cap="none" strike="noStrike">
                          <a:solidFill>
                            <a:srgbClr val="D9D9D9"/>
                          </a:solidFill>
                          <a:latin typeface="Arial"/>
                          <a:ea typeface="Arial"/>
                          <a:cs typeface="Arial"/>
                          <a:sym typeface="Arial"/>
                        </a:rPr>
                        <a:t>This template can also be printed at the following sizes without distortion and without any additional formatting:</a:t>
                      </a:r>
                      <a:br>
                        <a:rPr b="0" lang="en-US" sz="2000" u="none" cap="none" strike="noStrike">
                          <a:solidFill>
                            <a:srgbClr val="D9D9D9"/>
                          </a:solidFill>
                          <a:latin typeface="Arial"/>
                          <a:ea typeface="Arial"/>
                          <a:cs typeface="Arial"/>
                          <a:sym typeface="Arial"/>
                        </a:rPr>
                      </a:br>
                      <a:r>
                        <a:rPr b="0" lang="en-US" sz="2000" u="none" cap="none" strike="noStrike">
                          <a:solidFill>
                            <a:srgbClr val="FFC000"/>
                          </a:solidFill>
                          <a:latin typeface="Arial"/>
                          <a:ea typeface="Arial"/>
                          <a:cs typeface="Arial"/>
                          <a:sym typeface="Arial"/>
                        </a:rPr>
                        <a:t>30 tall x 40 wide</a:t>
                      </a:r>
                      <a:br>
                        <a:rPr b="0" lang="en-US" sz="2000" u="none" cap="none" strike="noStrike">
                          <a:solidFill>
                            <a:srgbClr val="FFC000"/>
                          </a:solidFill>
                          <a:latin typeface="Arial"/>
                          <a:ea typeface="Arial"/>
                          <a:cs typeface="Arial"/>
                          <a:sym typeface="Arial"/>
                        </a:rPr>
                      </a:br>
                      <a:r>
                        <a:rPr b="0" lang="en-US" sz="2000" u="none" cap="none" strike="noStrike">
                          <a:solidFill>
                            <a:srgbClr val="FFC000"/>
                          </a:solidFill>
                          <a:latin typeface="Arial"/>
                          <a:ea typeface="Arial"/>
                          <a:cs typeface="Arial"/>
                          <a:sym typeface="Arial"/>
                        </a:rPr>
                        <a:t>42 tall x 56 wide</a:t>
                      </a:r>
                      <a:br>
                        <a:rPr b="0" lang="en-US" sz="2000" u="none" cap="none" strike="noStrike">
                          <a:solidFill>
                            <a:srgbClr val="FFC000"/>
                          </a:solidFill>
                          <a:latin typeface="Arial"/>
                          <a:ea typeface="Arial"/>
                          <a:cs typeface="Arial"/>
                          <a:sym typeface="Arial"/>
                        </a:rPr>
                      </a:br>
                      <a:r>
                        <a:rPr b="0" lang="en-US" sz="2000" u="none" cap="none" strike="noStrike">
                          <a:solidFill>
                            <a:srgbClr val="FFC000"/>
                          </a:solidFill>
                          <a:latin typeface="Arial"/>
                          <a:ea typeface="Arial"/>
                          <a:cs typeface="Arial"/>
                          <a:sym typeface="Arial"/>
                        </a:rPr>
                        <a:t>48 tall x 64 wide</a:t>
                      </a:r>
                      <a:endParaRPr/>
                    </a:p>
                  </a:txBody>
                  <a:tcPr marT="137150" marB="45725" marR="91450" marL="182875">
                    <a:solidFill>
                      <a:srgbClr val="010101"/>
                    </a:solidFill>
                  </a:tcPr>
                </a:tc>
              </a:tr>
              <a:tr h="4288700">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How to </a:t>
                      </a:r>
                      <a:r>
                        <a:rPr b="1" lang="en-US" sz="4000">
                          <a:solidFill>
                            <a:srgbClr val="FFC000"/>
                          </a:solidFill>
                          <a:latin typeface="Arial"/>
                          <a:ea typeface="Arial"/>
                          <a:cs typeface="Arial"/>
                          <a:sym typeface="Arial"/>
                        </a:rPr>
                        <a:t>Zoom in </a:t>
                      </a:r>
                      <a:r>
                        <a:rPr b="1" lang="en-US" sz="2400">
                          <a:solidFill>
                            <a:srgbClr val="FFC000"/>
                          </a:solidFill>
                          <a:latin typeface="Arial"/>
                          <a:ea typeface="Arial"/>
                          <a:cs typeface="Arial"/>
                          <a:sym typeface="Arial"/>
                        </a:rPr>
                        <a:t>and </a:t>
                      </a:r>
                      <a:r>
                        <a:rPr b="1" lang="en-US" sz="1800">
                          <a:solidFill>
                            <a:srgbClr val="FFC000"/>
                          </a:solidFill>
                          <a:latin typeface="Arial"/>
                          <a:ea typeface="Arial"/>
                          <a:cs typeface="Arial"/>
                          <a:sym typeface="Arial"/>
                        </a:rPr>
                        <a:t>out</a:t>
                      </a:r>
                      <a:endParaRPr b="1" sz="2400">
                        <a:solidFill>
                          <a:srgbClr val="FFC000"/>
                        </a:solidFill>
                        <a:latin typeface="Arial"/>
                        <a:ea typeface="Arial"/>
                        <a:cs typeface="Arial"/>
                        <a:sym typeface="Arial"/>
                      </a:endParaRPr>
                    </a:p>
                    <a:p>
                      <a:pPr indent="0" lvl="0" marL="0" marR="0" rtl="0" algn="l">
                        <a:spcBef>
                          <a:spcPts val="0"/>
                        </a:spcBef>
                        <a:spcAft>
                          <a:spcPts val="0"/>
                        </a:spcAft>
                        <a:buNone/>
                      </a:pPr>
                      <a:r>
                        <a:rPr b="0" lang="en-US" sz="2000">
                          <a:solidFill>
                            <a:srgbClr val="D9D9D9"/>
                          </a:solidFill>
                          <a:latin typeface="Arial"/>
                          <a:ea typeface="Arial"/>
                          <a:cs typeface="Arial"/>
                          <a:sym typeface="Arial"/>
                        </a:rPr>
                        <a:t>Use the PowerPoint zoom tool to adjust the screen magnification to view comfortably. PowerPoint provides 2 ways to zoom: </a:t>
                      </a:r>
                      <a:br>
                        <a:rPr b="0" lang="en-US" sz="2000">
                          <a:solidFill>
                            <a:srgbClr val="D9D9D9"/>
                          </a:solidFill>
                          <a:latin typeface="Arial"/>
                          <a:ea typeface="Arial"/>
                          <a:cs typeface="Arial"/>
                          <a:sym typeface="Arial"/>
                        </a:rPr>
                      </a:br>
                      <a:r>
                        <a:rPr b="0" lang="en-US" sz="2000">
                          <a:solidFill>
                            <a:srgbClr val="FFC000"/>
                          </a:solidFill>
                          <a:latin typeface="Arial"/>
                          <a:ea typeface="Arial"/>
                          <a:cs typeface="Arial"/>
                          <a:sym typeface="Arial"/>
                        </a:rPr>
                        <a:t>1. </a:t>
                      </a:r>
                      <a:r>
                        <a:rPr b="0" lang="en-US" sz="2000">
                          <a:solidFill>
                            <a:srgbClr val="D9D9D9"/>
                          </a:solidFill>
                          <a:latin typeface="Arial"/>
                          <a:ea typeface="Arial"/>
                          <a:cs typeface="Arial"/>
                          <a:sym typeface="Arial"/>
                        </a:rPr>
                        <a:t>On the top menu bar click on the VIEW tab and then click on ZOOM. Choose the zoom percentage that works best for you. </a:t>
                      </a:r>
                      <a:br>
                        <a:rPr b="0" lang="en-US" sz="2000">
                          <a:solidFill>
                            <a:srgbClr val="D9D9D9"/>
                          </a:solidFill>
                          <a:latin typeface="Arial"/>
                          <a:ea typeface="Arial"/>
                          <a:cs typeface="Arial"/>
                          <a:sym typeface="Arial"/>
                        </a:rPr>
                      </a:br>
                      <a:r>
                        <a:rPr b="0" lang="en-US" sz="2000">
                          <a:solidFill>
                            <a:srgbClr val="FFC000"/>
                          </a:solidFill>
                          <a:latin typeface="Arial"/>
                          <a:ea typeface="Arial"/>
                          <a:cs typeface="Arial"/>
                          <a:sym typeface="Arial"/>
                        </a:rPr>
                        <a:t>2. </a:t>
                      </a:r>
                      <a:r>
                        <a:rPr b="0" lang="en-US" sz="2000">
                          <a:solidFill>
                            <a:srgbClr val="D9D9D9"/>
                          </a:solidFill>
                          <a:latin typeface="Arial"/>
                          <a:ea typeface="Arial"/>
                          <a:cs typeface="Arial"/>
                          <a:sym typeface="Arial"/>
                        </a:rPr>
                        <a:t>For better zoom flexibility, use the zoom slider at the bottom right of the window.</a:t>
                      </a:r>
                      <a:endParaRPr/>
                    </a:p>
                  </a:txBody>
                  <a:tcPr marT="137150" marB="45725" marR="91450" marL="182875">
                    <a:solidFill>
                      <a:srgbClr val="010101"/>
                    </a:solidFill>
                  </a:tcPr>
                </a:tc>
              </a:tr>
              <a:tr h="1800525">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Ruler and Guides</a:t>
                      </a:r>
                      <a:br>
                        <a:rPr b="0" lang="en-US" sz="2000">
                          <a:solidFill>
                            <a:srgbClr val="FFC000"/>
                          </a:solidFill>
                          <a:latin typeface="Arial"/>
                          <a:ea typeface="Arial"/>
                          <a:cs typeface="Arial"/>
                          <a:sym typeface="Arial"/>
                        </a:rPr>
                      </a:br>
                      <a:r>
                        <a:rPr b="0" lang="en-US" sz="200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T="45725" marB="45725" marR="91450" marL="91450">
                    <a:solidFill>
                      <a:srgbClr val="010101"/>
                    </a:solidFill>
                  </a:tcPr>
                </a:tc>
                <a:tc hMerge="1"/>
              </a:tr>
              <a:tr h="3824350">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1" marL="0" marR="0" rtl="0" algn="l">
                        <a:spcBef>
                          <a:spcPts val="0"/>
                        </a:spcBef>
                        <a:spcAft>
                          <a:spcPts val="0"/>
                        </a:spcAft>
                        <a:buNone/>
                      </a:pPr>
                      <a:r>
                        <a:rPr b="1" lang="en-US" sz="2400" u="none" cap="none" strike="noStrike">
                          <a:solidFill>
                            <a:srgbClr val="FFC000"/>
                          </a:solidFill>
                          <a:latin typeface="Arial"/>
                          <a:ea typeface="Arial"/>
                          <a:cs typeface="Arial"/>
                          <a:sym typeface="Arial"/>
                        </a:rPr>
                        <a:t>Headers and text containers</a:t>
                      </a:r>
                      <a:br>
                        <a:rPr b="0" lang="en-US" sz="2000" u="none" cap="none" strike="noStrike">
                          <a:solidFill>
                            <a:schemeClr val="lt1"/>
                          </a:solidFill>
                          <a:latin typeface="Arial"/>
                          <a:ea typeface="Arial"/>
                          <a:cs typeface="Arial"/>
                          <a:sym typeface="Arial"/>
                        </a:rPr>
                      </a:br>
                      <a:r>
                        <a:rPr b="0" lang="en-US" sz="2000" u="none" cap="none" strike="noStrike">
                          <a:solidFill>
                            <a:srgbClr val="D9D9D9"/>
                          </a:solidFill>
                          <a:latin typeface="Arial"/>
                          <a:ea typeface="Arial"/>
                          <a:cs typeface="Arial"/>
                          <a:sym typeface="Arial"/>
                        </a:rPr>
                        <a:t>Included in this template are commonly used section headers such as Abstract, Objectives, Methods, Results, etc.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Click inside a section header to add its text.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To add another header, click on edge of the section box so that it is outlined. Copy and paste it. </a:t>
                      </a:r>
                      <a:br>
                        <a:rPr b="0" lang="en-US" sz="2000" u="none" cap="none" strike="noStrike">
                          <a:solidFill>
                            <a:schemeClr val="lt1"/>
                          </a:solidFill>
                          <a:latin typeface="Arial"/>
                          <a:ea typeface="Arial"/>
                          <a:cs typeface="Arial"/>
                          <a:sym typeface="Arial"/>
                        </a:rPr>
                      </a:br>
                      <a:r>
                        <a:rPr b="0" lang="en-US" sz="2000" u="none" cap="none" strike="noStrike">
                          <a:solidFill>
                            <a:srgbClr val="FFC000"/>
                          </a:solidFill>
                          <a:latin typeface="Arial"/>
                          <a:ea typeface="Arial"/>
                          <a:cs typeface="Arial"/>
                          <a:sym typeface="Arial"/>
                        </a:rPr>
                        <a:t>-</a:t>
                      </a:r>
                      <a:r>
                        <a:rPr b="0" lang="en-US" sz="2000" u="none" cap="none" strike="noStrike">
                          <a:solidFill>
                            <a:schemeClr val="lt1"/>
                          </a:solidFill>
                          <a:latin typeface="Arial"/>
                          <a:ea typeface="Arial"/>
                          <a:cs typeface="Arial"/>
                          <a:sym typeface="Arial"/>
                        </a:rPr>
                        <a:t> </a:t>
                      </a:r>
                      <a:r>
                        <a:rPr b="0" lang="en-US" sz="2000" u="none" cap="none" strike="noStrike">
                          <a:solidFill>
                            <a:srgbClr val="D9D9D9"/>
                          </a:solidFill>
                          <a:latin typeface="Arial"/>
                          <a:ea typeface="Arial"/>
                          <a:cs typeface="Arial"/>
                          <a:sym typeface="Arial"/>
                        </a:rPr>
                        <a:t>To increase its size, click on the white circles and expand to the the desired size.</a:t>
                      </a:r>
                      <a:endParaRPr/>
                    </a:p>
                  </a:txBody>
                  <a:tcPr marT="137150" marB="45725" marR="91450" marL="182875">
                    <a:solidFill>
                      <a:srgbClr val="010101"/>
                    </a:solidFill>
                  </a:tcPr>
                </a:tc>
              </a:tr>
              <a:tr h="3519125">
                <a:tc gridSpan="2">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Adding content to the poster</a:t>
                      </a:r>
                      <a:endParaRPr/>
                    </a:p>
                    <a:p>
                      <a:pPr indent="0" lvl="0" marL="0" marR="0" rtl="0" algn="l">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indent="-342900" lvl="0" marL="342900" marR="0" rtl="0" algn="l">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T="45725" marB="45725" marR="91450" marL="91450">
                    <a:solidFill>
                      <a:srgbClr val="010101"/>
                    </a:solidFill>
                  </a:tcPr>
                </a:tc>
                <a:tc hMerge="1"/>
              </a:tr>
              <a:tr h="2377650">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Photos</a:t>
                      </a:r>
                      <a:endParaRPr/>
                    </a:p>
                    <a:p>
                      <a:pPr indent="0" lvl="0" marL="0" marR="0" rtl="0" algn="l">
                        <a:lnSpc>
                          <a:spcPct val="100000"/>
                        </a:lnSpc>
                        <a:spcBef>
                          <a:spcPts val="0"/>
                        </a:spcBef>
                        <a:spcAft>
                          <a:spcPts val="0"/>
                        </a:spcAft>
                        <a:buClr>
                          <a:srgbClr val="D9D9D9"/>
                        </a:buClr>
                        <a:buSzPts val="2000"/>
                        <a:buFont typeface="Arial"/>
                        <a:buNone/>
                      </a:pPr>
                      <a:r>
                        <a:rPr b="0" i="0" lang="en-US" sz="2000" u="none" cap="none" strike="noStrik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T="137150" marB="45725" marR="91450" marL="182875">
                    <a:solidFill>
                      <a:srgbClr val="010101"/>
                    </a:solidFill>
                  </a:tcPr>
                </a:tc>
                <a:tc hMerge="1"/>
              </a:tr>
              <a:tr h="2293175">
                <a:tc gridSpan="2">
                  <a:txBody>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a:txBody>
                  <a:tcPr marT="137150" marB="45725" marR="91450" marL="182875"/>
                </a:tc>
                <a:tc hMerge="1"/>
              </a:tr>
              <a:tr h="1280275">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Quality check your graphics</a:t>
                      </a:r>
                      <a:endParaRPr/>
                    </a:p>
                    <a:p>
                      <a:pPr indent="0" lvl="0" marL="0" marR="0" rtl="0" algn="l">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T="137150" marB="45725" marR="91450" marL="182875">
                    <a:solidFill>
                      <a:srgbClr val="010101"/>
                    </a:solidFill>
                  </a:tcPr>
                </a:tc>
                <a:tc hMerge="1"/>
              </a:tr>
              <a:tr h="3187275">
                <a:tc gridSpan="2">
                  <a:txBody>
                    <a:bodyPr/>
                    <a:lstStyle/>
                    <a:p>
                      <a:pPr indent="0" lvl="0" marL="0" marR="0" rtl="0" algn="l">
                        <a:lnSpc>
                          <a:spcPct val="100000"/>
                        </a:lnSpc>
                        <a:spcBef>
                          <a:spcPts val="0"/>
                        </a:spcBef>
                        <a:spcAft>
                          <a:spcPts val="0"/>
                        </a:spcAft>
                        <a:buClr>
                          <a:schemeClr val="dk1"/>
                        </a:buClr>
                        <a:buSzPts val="2000"/>
                        <a:buFont typeface="Calibri"/>
                        <a:buNone/>
                      </a:pPr>
                      <a:r>
                        <a:t/>
                      </a:r>
                      <a:endParaRPr sz="2000">
                        <a:solidFill>
                          <a:schemeClr val="lt1"/>
                        </a:solidFill>
                        <a:latin typeface="Arial"/>
                        <a:ea typeface="Arial"/>
                        <a:cs typeface="Arial"/>
                        <a:sym typeface="Arial"/>
                      </a:endParaRPr>
                    </a:p>
                  </a:txBody>
                  <a:tcPr marT="137150" marB="45725" marR="91450" marL="182875"/>
                </a:tc>
                <a:tc hMerge="1"/>
              </a:tr>
            </a:tbl>
          </a:graphicData>
        </a:graphic>
      </p:graphicFrame>
      <p:graphicFrame>
        <p:nvGraphicFramePr>
          <p:cNvPr id="12" name="Google Shape;12;p2"/>
          <p:cNvGraphicFramePr/>
          <p:nvPr/>
        </p:nvGraphicFramePr>
        <p:xfrm>
          <a:off x="44695229" y="-84749"/>
          <a:ext cx="3000000" cy="3000000"/>
        </p:xfrm>
        <a:graphic>
          <a:graphicData uri="http://schemas.openxmlformats.org/drawingml/2006/table">
            <a:tbl>
              <a:tblPr bandRow="1" firstRow="1">
                <a:noFill/>
                <a:tableStyleId>{221DDE7E-DA77-4664-8EEF-9E0650C0446A}</a:tableStyleId>
              </a:tblPr>
              <a:tblGrid>
                <a:gridCol w="3343825"/>
                <a:gridCol w="1381550"/>
                <a:gridCol w="4704800"/>
              </a:tblGrid>
              <a:tr h="1756425">
                <a:tc gridSpan="3">
                  <a:txBody>
                    <a:bodyPr/>
                    <a:lstStyle/>
                    <a:p>
                      <a:pPr indent="0" lvl="0" marL="0" marR="0" rtl="0" algn="ctr">
                        <a:lnSpc>
                          <a:spcPct val="100000"/>
                        </a:lnSpc>
                        <a:spcBef>
                          <a:spcPts val="0"/>
                        </a:spcBef>
                        <a:spcAft>
                          <a:spcPts val="0"/>
                        </a:spcAft>
                        <a:buClr>
                          <a:srgbClr val="1F3A4E"/>
                        </a:buClr>
                        <a:buSzPts val="4000"/>
                        <a:buFont typeface="Arial Black"/>
                        <a:buNone/>
                      </a:pPr>
                      <a:r>
                        <a:rPr b="0" lang="en-US" sz="4000">
                          <a:solidFill>
                            <a:srgbClr val="1F3A4E"/>
                          </a:solidFill>
                          <a:latin typeface="Arial Black"/>
                          <a:ea typeface="Arial Black"/>
                          <a:cs typeface="Arial Black"/>
                          <a:sym typeface="Arial Black"/>
                        </a:rPr>
                        <a:t>QUICK START GUIDE</a:t>
                      </a:r>
                      <a:br>
                        <a:rPr b="0" lang="en-US" sz="4000">
                          <a:solidFill>
                            <a:srgbClr val="1F3A4E"/>
                          </a:solidFill>
                          <a:latin typeface="Arial Black"/>
                          <a:ea typeface="Arial Black"/>
                          <a:cs typeface="Arial Black"/>
                          <a:sym typeface="Arial Black"/>
                        </a:rPr>
                      </a:br>
                      <a:r>
                        <a:rPr b="1" lang="en-US" sz="3200">
                          <a:solidFill>
                            <a:srgbClr val="FF0000"/>
                          </a:solidFill>
                          <a:latin typeface="Trebuchet MS"/>
                          <a:ea typeface="Trebuchet MS"/>
                          <a:cs typeface="Trebuchet MS"/>
                          <a:sym typeface="Trebuchet MS"/>
                        </a:rPr>
                        <a:t>(THIS SIDEBAR WILL NOT PRINT)</a:t>
                      </a:r>
                      <a:endParaRPr b="1" sz="4000">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c hMerge="1"/>
              </a:tr>
              <a:tr h="5563100">
                <a:tc gridSpan="3">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 change the template colors</a:t>
                      </a:r>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1">
                            <a:extLst>
                              <a:ext uri="{A12FA001-AC4F-418D-AE19-62706E023703}">
                                <ahyp:hlinkClr val="tx"/>
                              </a:ext>
                            </a:extLst>
                          </a:hlinkClick>
                        </a:rPr>
                        <a:t>https://www.posterpresentations.com/how-to-change-the-research-poster-template-colors.html</a:t>
                      </a:r>
                      <a:endParaRPr sz="2400">
                        <a:solidFill>
                          <a:srgbClr val="FFC000"/>
                        </a:solidFill>
                      </a:endParaRPr>
                    </a:p>
                    <a:p>
                      <a:pPr indent="0" lvl="0" marL="0" marR="0" rtl="0" algn="l">
                        <a:spcBef>
                          <a:spcPts val="0"/>
                        </a:spcBef>
                        <a:spcAft>
                          <a:spcPts val="0"/>
                        </a:spcAft>
                        <a:buNone/>
                      </a:pPr>
                      <a:r>
                        <a:t/>
                      </a:r>
                      <a:endParaRPr b="0" sz="2400">
                        <a:solidFill>
                          <a:srgbClr val="D9D9D9"/>
                        </a:solidFill>
                        <a:latin typeface="Arial"/>
                        <a:ea typeface="Arial"/>
                        <a:cs typeface="Arial"/>
                        <a:sym typeface="Arial"/>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indent="0" lvl="0" marL="0" marR="0" rtl="0" algn="l">
                        <a:spcBef>
                          <a:spcPts val="0"/>
                        </a:spcBef>
                        <a:spcAft>
                          <a:spcPts val="0"/>
                        </a:spcAft>
                        <a:buNone/>
                      </a:pPr>
                      <a:r>
                        <a:t/>
                      </a:r>
                      <a:endParaRPr b="0" sz="2400">
                        <a:solidFill>
                          <a:srgbClr val="D9D9D9"/>
                        </a:solidFill>
                        <a:latin typeface="Arial"/>
                        <a:ea typeface="Arial"/>
                        <a:cs typeface="Arial"/>
                        <a:sym typeface="Arial"/>
                      </a:endParaRPr>
                    </a:p>
                    <a:p>
                      <a:pPr indent="0" lvl="0" marL="0" marR="0" rtl="0" algn="l">
                        <a:spcBef>
                          <a:spcPts val="0"/>
                        </a:spcBef>
                        <a:spcAft>
                          <a:spcPts val="0"/>
                        </a:spcAft>
                        <a:buNone/>
                      </a:pPr>
                      <a:r>
                        <a:rPr b="0" lang="en-US" sz="240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T="137150" marB="45725" marR="91450" marL="182875">
                    <a:solidFill>
                      <a:schemeClr val="dk1"/>
                    </a:solidFill>
                  </a:tcPr>
                </a:tc>
                <a:tc hMerge="1"/>
                <a:tc hMerge="1"/>
              </a:tr>
              <a:tr h="3667725">
                <a:tc gridSpan="3">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 change the column layout configuration</a:t>
                      </a:r>
                      <a:endParaRPr/>
                    </a:p>
                    <a:p>
                      <a:pPr indent="0" lvl="0" marL="0" marR="0" rtl="0" algn="l">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T="137150" marB="45725" marR="91450" marL="182875">
                    <a:solidFill>
                      <a:schemeClr val="dk1"/>
                    </a:solidFill>
                  </a:tcPr>
                </a:tc>
                <a:tc hMerge="1"/>
                <a:tc hMerge="1"/>
              </a:tr>
              <a:tr h="5177075">
                <a:tc gridSpan="2">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tc>
                <a:tc hMerge="1"/>
                <a:tc rowSpan="2">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How to hide the QUICK START GUIDE bars from the sides of the template</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a:t>
                      </a:r>
                      <a:r>
                        <a:rPr lang="en-US" sz="2400">
                          <a:solidFill>
                            <a:srgbClr val="D9D9D9"/>
                          </a:solidFill>
                          <a:latin typeface="Arial"/>
                          <a:ea typeface="Arial"/>
                          <a:cs typeface="Arial"/>
                          <a:sym typeface="Arial"/>
                        </a:rPr>
                        <a:t> Guides</a:t>
                      </a:r>
                      <a:r>
                        <a:rPr lang="en-US" sz="2400">
                          <a:solidFill>
                            <a:srgbClr val="D9D9D9"/>
                          </a:solidFill>
                          <a:latin typeface="Arial"/>
                          <a:ea typeface="Arial"/>
                          <a:cs typeface="Arial"/>
                          <a:sym typeface="Arial"/>
                        </a:rPr>
                        <a:t>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a:t>
                      </a:r>
                      <a:r>
                        <a:rPr lang="en-US" sz="2400">
                          <a:solidFill>
                            <a:srgbClr val="D9D9D9"/>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b="1" lang="en-US" sz="2400">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b="1" lang="en-US" sz="240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b="1" lang="en-US" sz="2400">
                          <a:solidFill>
                            <a:srgbClr val="D9D9D9"/>
                          </a:solidFill>
                          <a:latin typeface="Arial"/>
                          <a:ea typeface="Arial"/>
                          <a:cs typeface="Arial"/>
                          <a:sym typeface="Arial"/>
                        </a:rPr>
                        <a:t>Without Guides </a:t>
                      </a:r>
                      <a:r>
                        <a:rPr b="0" lang="en-US" sz="240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solidFill>
                      <a:srgbClr val="010101"/>
                    </a:solidFill>
                  </a:tcPr>
                </a:tc>
              </a:tr>
              <a:tr h="2888325">
                <a:tc gridSpan="2">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solidFill>
                      <a:srgbClr val="010101"/>
                    </a:solidFill>
                  </a:tcPr>
                </a:tc>
                <a:tc hMerge="1"/>
                <a:tc vMerge="1"/>
              </a:tr>
              <a:tr h="3781425">
                <a:tc gridSpan="2">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a:t>
                      </a:r>
                      <a:r>
                        <a:rPr b="1" lang="en-US" sz="2800">
                          <a:solidFill>
                            <a:srgbClr val="FFC000"/>
                          </a:solidFill>
                          <a:latin typeface="Arial"/>
                          <a:ea typeface="Arial"/>
                          <a:cs typeface="Arial"/>
                          <a:sym typeface="Arial"/>
                        </a:rPr>
                        <a:t> preview your poster prior to printing</a:t>
                      </a:r>
                      <a:endParaRPr b="1" sz="2800">
                        <a:solidFill>
                          <a:srgbClr val="FFC000"/>
                        </a:solidFill>
                        <a:latin typeface="Arial"/>
                        <a:ea typeface="Arial"/>
                        <a:cs typeface="Arial"/>
                        <a:sym typeface="Arial"/>
                      </a:endParaRPr>
                    </a:p>
                    <a:p>
                      <a:pPr indent="0" lvl="0" marL="0" marR="0" rtl="0" algn="l">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T="137150" marB="45725" marR="91450" marL="182875">
                    <a:solidFill>
                      <a:srgbClr val="010101"/>
                    </a:solidFill>
                  </a:tcPr>
                </a:tc>
                <a:tc hMerge="1"/>
                <a:tc>
                  <a:txBody>
                    <a:bodyPr/>
                    <a:lstStyle/>
                    <a:p>
                      <a:pPr indent="0" lvl="0" marL="0" marR="0" rtl="0" algn="ctr">
                        <a:spcBef>
                          <a:spcPts val="0"/>
                        </a:spcBef>
                        <a:spcAft>
                          <a:spcPts val="0"/>
                        </a:spcAft>
                        <a:buNone/>
                      </a:pPr>
                      <a:r>
                        <a:rPr b="1" lang="en-US" sz="11500">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T="137150" marB="45725" marR="91450" marL="182875" anchor="ctr">
                    <a:solidFill>
                      <a:srgbClr val="0C0C0C"/>
                    </a:solidFill>
                  </a:tcPr>
                </a:tc>
              </a:tr>
              <a:tr h="5674000">
                <a:tc gridSpan="3">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How to print your poster</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indent="0" lvl="0" marL="0" marR="0" rtl="0" algn="l">
                        <a:lnSpc>
                          <a:spcPct val="100000"/>
                        </a:lnSpc>
                        <a:spcBef>
                          <a:spcPts val="0"/>
                        </a:spcBef>
                        <a:spcAft>
                          <a:spcPts val="0"/>
                        </a:spcAft>
                        <a:buClr>
                          <a:srgbClr val="D9D9D9"/>
                        </a:buClr>
                        <a:buSzPts val="2400"/>
                        <a:buFont typeface="Arial"/>
                        <a:buNone/>
                      </a:pP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T="137150" marB="45725" marR="91450" marL="182875">
                    <a:solidFill>
                      <a:srgbClr val="010101"/>
                    </a:solidFill>
                  </a:tcPr>
                </a:tc>
                <a:tc hMerge="1"/>
                <a:tc hMerge="1"/>
              </a:tr>
              <a:tr h="1354775">
                <a:tc gridSpan="3">
                  <a:txBody>
                    <a:bodyPr/>
                    <a:lstStyle/>
                    <a:p>
                      <a:pPr indent="0" lvl="0" marL="0" marR="0" rtl="0" algn="l">
                        <a:spcBef>
                          <a:spcPts val="0"/>
                        </a:spcBef>
                        <a:spcAft>
                          <a:spcPts val="0"/>
                        </a:spcAft>
                        <a:buNone/>
                      </a:pPr>
                      <a:r>
                        <a:t/>
                      </a:r>
                      <a:endParaRPr sz="2400">
                        <a:solidFill>
                          <a:srgbClr val="1F3A4E"/>
                        </a:solidFill>
                      </a:endParaRPr>
                    </a:p>
                  </a:txBody>
                  <a:tcPr marT="137150" marB="45725" marR="91450" marL="182875"/>
                </a:tc>
                <a:tc hMerge="1"/>
                <a:tc hMerge="1"/>
              </a:tr>
              <a:tr h="3212200">
                <a:tc>
                  <a:txBody>
                    <a:bodyPr/>
                    <a:lstStyle/>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 2019</a:t>
                      </a:r>
                      <a:r>
                        <a:rPr lang="en-US" sz="2000">
                          <a:solidFill>
                            <a:srgbClr val="D8D8D8"/>
                          </a:solidFill>
                          <a:latin typeface="Arial"/>
                          <a:ea typeface="Arial"/>
                          <a:cs typeface="Arial"/>
                          <a:sym typeface="Arial"/>
                        </a:rPr>
                        <a:t> </a:t>
                      </a:r>
                      <a:r>
                        <a:rPr lang="en-US" sz="2000">
                          <a:solidFill>
                            <a:srgbClr val="D8D8D8"/>
                          </a:solidFill>
                          <a:latin typeface="Arial"/>
                          <a:ea typeface="Arial"/>
                          <a:cs typeface="Arial"/>
                          <a:sym typeface="Arial"/>
                        </a:rPr>
                        <a:t>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a:t>
                      </a:r>
                      <a:r>
                        <a:rPr lang="en-US" sz="2000">
                          <a:solidFill>
                            <a:srgbClr val="D8D8D8"/>
                          </a:solidFill>
                          <a:latin typeface="Arial"/>
                          <a:ea typeface="Arial"/>
                          <a:cs typeface="Arial"/>
                          <a:sym typeface="Arial"/>
                        </a:rPr>
                        <a:t> STE C        </a:t>
                      </a:r>
                      <a:endParaRPr/>
                    </a:p>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T="137150" marB="45725" marR="91450" marL="182875">
                    <a:solidFill>
                      <a:srgbClr val="010101"/>
                    </a:solidFill>
                  </a:tcPr>
                </a:tc>
                <a:tc gridSpan="2">
                  <a:txBody>
                    <a:bodyPr/>
                    <a:lstStyle/>
                    <a:p>
                      <a:pPr indent="0" lvl="0" marL="0" marR="0" rtl="0" algn="l">
                        <a:lnSpc>
                          <a:spcPct val="100000"/>
                        </a:lnSpc>
                        <a:spcBef>
                          <a:spcPts val="0"/>
                        </a:spcBef>
                        <a:spcAft>
                          <a:spcPts val="0"/>
                        </a:spcAft>
                        <a:buClr>
                          <a:srgbClr val="D0D0D0"/>
                        </a:buClr>
                        <a:buSzPts val="2400"/>
                        <a:buFont typeface="Arial"/>
                        <a:buNone/>
                      </a:pPr>
                      <a:r>
                        <a:rPr b="1" lang="en-US" sz="2400">
                          <a:solidFill>
                            <a:srgbClr val="D0D0D0"/>
                          </a:solidFill>
                          <a:latin typeface="Arial"/>
                          <a:ea typeface="Arial"/>
                          <a:cs typeface="Arial"/>
                          <a:sym typeface="Arial"/>
                        </a:rPr>
                        <a:t>For complete tutorials</a:t>
                      </a:r>
                      <a:r>
                        <a:rPr b="1" lang="en-US" sz="2400">
                          <a:solidFill>
                            <a:srgbClr val="D0D0D0"/>
                          </a:solidFill>
                          <a:latin typeface="Arial"/>
                          <a:ea typeface="Arial"/>
                          <a:cs typeface="Arial"/>
                          <a:sym typeface="Arial"/>
                        </a:rPr>
                        <a:t> visit:</a:t>
                      </a:r>
                      <a:endParaRPr/>
                    </a:p>
                    <a:p>
                      <a:pPr indent="0" lvl="0" marL="0" marR="0" rtl="0" algn="l">
                        <a:lnSpc>
                          <a:spcPct val="100000"/>
                        </a:lnSpc>
                        <a:spcBef>
                          <a:spcPts val="0"/>
                        </a:spcBef>
                        <a:spcAft>
                          <a:spcPts val="0"/>
                        </a:spcAft>
                        <a:buClr>
                          <a:srgbClr val="FFC000"/>
                        </a:buClr>
                        <a:buSzPts val="1800"/>
                        <a:buFont typeface="Arial"/>
                        <a:buNone/>
                      </a:pPr>
                      <a:r>
                        <a:rPr b="1" lang="en-US" sz="1800">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T="137150" marB="45725" marR="91450" marL="182875">
                    <a:solidFill>
                      <a:srgbClr val="010101"/>
                    </a:solidFill>
                  </a:tcPr>
                </a:tc>
                <a:tc hMerge="1"/>
              </a:tr>
            </a:tbl>
          </a:graphicData>
        </a:graphic>
      </p:graphicFrame>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6.png"/><Relationship Id="rId12"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21000">
              <a:srgbClr val="222222"/>
            </a:gs>
            <a:gs pos="100000">
              <a:srgbClr val="010101"/>
            </a:gs>
          </a:gsLst>
          <a:lin ang="5400012" scaled="0"/>
        </a:gradFill>
      </p:bgPr>
    </p:bg>
    <p:spTree>
      <p:nvGrpSpPr>
        <p:cNvPr id="34" name="Shape 34"/>
        <p:cNvGrpSpPr/>
        <p:nvPr/>
      </p:nvGrpSpPr>
      <p:grpSpPr>
        <a:xfrm>
          <a:off x="0" y="0"/>
          <a:ext cx="0" cy="0"/>
          <a:chOff x="0" y="0"/>
          <a:chExt cx="0" cy="0"/>
        </a:xfrm>
      </p:grpSpPr>
      <p:pic>
        <p:nvPicPr>
          <p:cNvPr id="35" name="Google Shape;35;p1"/>
          <p:cNvPicPr preferRelativeResize="0"/>
          <p:nvPr/>
        </p:nvPicPr>
        <p:blipFill>
          <a:blip r:embed="rId3">
            <a:alphaModFix/>
          </a:blip>
          <a:stretch>
            <a:fillRect/>
          </a:stretch>
        </p:blipFill>
        <p:spPr>
          <a:xfrm>
            <a:off x="2630050" y="-1332350"/>
            <a:ext cx="38631101" cy="38631101"/>
          </a:xfrm>
          <a:prstGeom prst="rect">
            <a:avLst/>
          </a:prstGeom>
          <a:noFill/>
          <a:ln>
            <a:noFill/>
          </a:ln>
        </p:spPr>
      </p:pic>
      <p:sp>
        <p:nvSpPr>
          <p:cNvPr id="36" name="Google Shape;36;p1"/>
          <p:cNvSpPr/>
          <p:nvPr/>
        </p:nvSpPr>
        <p:spPr>
          <a:xfrm>
            <a:off x="11711350" y="5548750"/>
            <a:ext cx="10058400" cy="10972500"/>
          </a:xfrm>
          <a:prstGeom prst="rect">
            <a:avLst/>
          </a:prstGeom>
          <a:solidFill>
            <a:srgbClr val="8C8C8C">
              <a:alpha val="708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1"/>
          <p:cNvSpPr/>
          <p:nvPr/>
        </p:nvSpPr>
        <p:spPr>
          <a:xfrm>
            <a:off x="33182425" y="5491325"/>
            <a:ext cx="10464600" cy="25799700"/>
          </a:xfrm>
          <a:prstGeom prst="rect">
            <a:avLst/>
          </a:prstGeom>
          <a:solidFill>
            <a:srgbClr val="8C8C8C">
              <a:alpha val="708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 name="Google Shape;38;p1"/>
          <p:cNvSpPr/>
          <p:nvPr/>
        </p:nvSpPr>
        <p:spPr>
          <a:xfrm>
            <a:off x="428325" y="5548750"/>
            <a:ext cx="10464600" cy="25742400"/>
          </a:xfrm>
          <a:prstGeom prst="rect">
            <a:avLst/>
          </a:prstGeom>
          <a:solidFill>
            <a:srgbClr val="8C8C8C">
              <a:alpha val="708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 name="Google Shape;39;p1"/>
          <p:cNvSpPr txBox="1"/>
          <p:nvPr>
            <p:ph idx="4" type="body"/>
          </p:nvPr>
        </p:nvSpPr>
        <p:spPr>
          <a:xfrm>
            <a:off x="11808086" y="6530881"/>
            <a:ext cx="10048800" cy="5079300"/>
          </a:xfrm>
          <a:prstGeom prst="rect">
            <a:avLst/>
          </a:prstGeom>
          <a:noFill/>
          <a:ln>
            <a:noFill/>
          </a:ln>
        </p:spPr>
        <p:txBody>
          <a:bodyPr anchorCtr="0" anchor="t" bIns="228575" lIns="228575" spcFirstLastPara="1" rIns="228575" wrap="square" tIns="228575">
            <a:spAutoFit/>
          </a:bodyPr>
          <a:lstStyle/>
          <a:p>
            <a:pPr indent="-419100" lvl="0" marL="457200" rtl="0" algn="l">
              <a:lnSpc>
                <a:spcPct val="150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Provide students with a resource to quickly and easily test code anywhere, anytime</a:t>
            </a:r>
            <a:endParaRPr sz="3000">
              <a:solidFill>
                <a:schemeClr val="lt1"/>
              </a:solidFill>
              <a:latin typeface="Helvetica Neue"/>
              <a:ea typeface="Helvetica Neue"/>
              <a:cs typeface="Helvetica Neue"/>
              <a:sym typeface="Helvetica Neue"/>
            </a:endParaRPr>
          </a:p>
          <a:p>
            <a:pPr indent="-419100" lvl="0" marL="457200" rtl="0" algn="l">
              <a:lnSpc>
                <a:spcPct val="150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Create a user friendly and functional UI</a:t>
            </a:r>
            <a:endParaRPr sz="3000">
              <a:solidFill>
                <a:schemeClr val="lt1"/>
              </a:solidFill>
              <a:latin typeface="Helvetica Neue"/>
              <a:ea typeface="Helvetica Neue"/>
              <a:cs typeface="Helvetica Neue"/>
              <a:sym typeface="Helvetica Neue"/>
            </a:endParaRPr>
          </a:p>
          <a:p>
            <a:pPr indent="-419100" lvl="0" marL="457200" rtl="0" algn="l">
              <a:lnSpc>
                <a:spcPct val="150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Encourage students to develop better testing habits</a:t>
            </a:r>
            <a:endParaRPr sz="3000">
              <a:solidFill>
                <a:schemeClr val="lt1"/>
              </a:solidFill>
              <a:latin typeface="Helvetica Neue"/>
              <a:ea typeface="Helvetica Neue"/>
              <a:cs typeface="Helvetica Neue"/>
              <a:sym typeface="Helvetica Neue"/>
            </a:endParaRPr>
          </a:p>
          <a:p>
            <a:pPr indent="-419100" lvl="0" marL="457200" rtl="0" algn="l">
              <a:lnSpc>
                <a:spcPct val="150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Relieve stress off Submitty servers</a:t>
            </a:r>
            <a:endParaRPr sz="3000">
              <a:solidFill>
                <a:schemeClr val="lt1"/>
              </a:solidFill>
              <a:latin typeface="Helvetica Neue"/>
              <a:ea typeface="Helvetica Neue"/>
              <a:cs typeface="Helvetica Neue"/>
              <a:sym typeface="Helvetica Neue"/>
            </a:endParaRPr>
          </a:p>
          <a:p>
            <a:pPr indent="-419100" lvl="0" marL="457200" rtl="0" algn="l">
              <a:lnSpc>
                <a:spcPct val="150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Apply the skills we’ve learned to create a useful product</a:t>
            </a:r>
            <a:endParaRPr sz="3000">
              <a:solidFill>
                <a:schemeClr val="lt1"/>
              </a:solidFill>
              <a:latin typeface="Helvetica Neue"/>
              <a:ea typeface="Helvetica Neue"/>
              <a:cs typeface="Helvetica Neue"/>
              <a:sym typeface="Helvetica Neue"/>
            </a:endParaRPr>
          </a:p>
        </p:txBody>
      </p:sp>
      <p:sp>
        <p:nvSpPr>
          <p:cNvPr id="40" name="Google Shape;40;p1"/>
          <p:cNvSpPr txBox="1"/>
          <p:nvPr>
            <p:ph idx="1" type="body"/>
          </p:nvPr>
        </p:nvSpPr>
        <p:spPr>
          <a:xfrm>
            <a:off x="459675" y="6378476"/>
            <a:ext cx="10056900" cy="12075300"/>
          </a:xfrm>
          <a:prstGeom prst="rect">
            <a:avLst/>
          </a:prstGeom>
          <a:noFill/>
          <a:ln>
            <a:noFill/>
          </a:ln>
        </p:spPr>
        <p:txBody>
          <a:bodyPr anchorCtr="0" anchor="t" bIns="228575" lIns="228575" spcFirstLastPara="1" rIns="228575" wrap="square" tIns="228575">
            <a:spAutoFit/>
          </a:bodyPr>
          <a:lstStyle/>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SIFT or Submitty Instant Feedback and Testing is a standalone app that enables students to autograde their Submitty coding homework assignments without having to rely on Submitty</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Oftentimes, working with the Submitty autograder to test and find problems in code can be cumbersome, requiring the user to upload all their files, wait for the servers to process and run them, and then getting your output, all while using up a precious submission</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SIFT aims to fix this by giving students the tools to get their homeworks graded on their own computers.</a:t>
            </a:r>
            <a:endParaRPr sz="3000">
              <a:solidFill>
                <a:schemeClr val="lt1"/>
              </a:solidFill>
              <a:latin typeface="Helvetica Neue"/>
              <a:ea typeface="Helvetica Neue"/>
              <a:cs typeface="Helvetica Neue"/>
              <a:sym typeface="Helvetica Neue"/>
            </a:endParaRPr>
          </a:p>
          <a:p>
            <a:pPr indent="-419100" lvl="1" marL="9144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Users begin by selecting the language they are using, upload their own source code files, and the expected output files</a:t>
            </a:r>
            <a:endParaRPr sz="3000">
              <a:solidFill>
                <a:schemeClr val="lt1"/>
              </a:solidFill>
              <a:latin typeface="Helvetica Neue"/>
              <a:ea typeface="Helvetica Neue"/>
              <a:cs typeface="Helvetica Neue"/>
              <a:sym typeface="Helvetica Neue"/>
            </a:endParaRPr>
          </a:p>
          <a:p>
            <a:pPr indent="-419100" lvl="1" marL="9144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SIFT then runs the source code and shows the user the comparison between their output and the expected output that was provided in a similar way to Submitty</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The goal of SIFT is to streamline the process of creating and testing code so that students spend less time waiting for Submitty, wasting submissions, and can instead get quick results and keep working</a:t>
            </a:r>
            <a:endParaRPr sz="3000">
              <a:solidFill>
                <a:schemeClr val="lt1"/>
              </a:solidFill>
              <a:latin typeface="Helvetica Neue"/>
              <a:ea typeface="Helvetica Neue"/>
              <a:cs typeface="Helvetica Neue"/>
              <a:sym typeface="Helvetica Neue"/>
            </a:endParaRPr>
          </a:p>
        </p:txBody>
      </p:sp>
      <p:sp>
        <p:nvSpPr>
          <p:cNvPr id="41" name="Google Shape;41;p1"/>
          <p:cNvSpPr txBox="1"/>
          <p:nvPr>
            <p:ph idx="9" type="body"/>
          </p:nvPr>
        </p:nvSpPr>
        <p:spPr>
          <a:xfrm>
            <a:off x="33405900" y="6352650"/>
            <a:ext cx="10047000" cy="11154000"/>
          </a:xfrm>
          <a:prstGeom prst="rect">
            <a:avLst/>
          </a:prstGeom>
          <a:noFill/>
          <a:ln>
            <a:noFill/>
          </a:ln>
        </p:spPr>
        <p:txBody>
          <a:bodyPr anchorCtr="0" anchor="t" bIns="228575" lIns="228575" spcFirstLastPara="1" rIns="228575" wrap="square" tIns="228575">
            <a:noAutofit/>
          </a:bodyPr>
          <a:lstStyle/>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We made our mock ups in figma</a:t>
            </a:r>
            <a:endParaRPr sz="3000">
              <a:solidFill>
                <a:schemeClr val="lt1"/>
              </a:solidFill>
              <a:latin typeface="Helvetica Neue"/>
              <a:ea typeface="Helvetica Neue"/>
              <a:cs typeface="Helvetica Neue"/>
              <a:sym typeface="Helvetica Neue"/>
            </a:endParaRPr>
          </a:p>
          <a:p>
            <a:pPr indent="-419100" lvl="1" marL="9144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it was easy to use and it allowed us to easily collaborate with each other. </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Our design philosophy when making our frontend was that we wanted to emphasize the discoverability of our application. </a:t>
            </a:r>
            <a:endParaRPr sz="3000">
              <a:solidFill>
                <a:schemeClr val="lt1"/>
              </a:solidFill>
              <a:latin typeface="Helvetica Neue"/>
              <a:ea typeface="Helvetica Neue"/>
              <a:cs typeface="Helvetica Neue"/>
              <a:sym typeface="Helvetica Neue"/>
            </a:endParaRPr>
          </a:p>
        </p:txBody>
      </p:sp>
      <p:sp>
        <p:nvSpPr>
          <p:cNvPr id="42" name="Google Shape;42;p1"/>
          <p:cNvSpPr txBox="1"/>
          <p:nvPr>
            <p:ph idx="2" type="body"/>
          </p:nvPr>
        </p:nvSpPr>
        <p:spPr>
          <a:xfrm>
            <a:off x="477827" y="5548749"/>
            <a:ext cx="100488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Introduction</a:t>
            </a:r>
            <a:endParaRPr sz="4500">
              <a:solidFill>
                <a:schemeClr val="lt1"/>
              </a:solidFill>
              <a:latin typeface="Helvetica Neue"/>
              <a:ea typeface="Helvetica Neue"/>
              <a:cs typeface="Helvetica Neue"/>
              <a:sym typeface="Helvetica Neue"/>
            </a:endParaRPr>
          </a:p>
        </p:txBody>
      </p:sp>
      <p:sp>
        <p:nvSpPr>
          <p:cNvPr id="43" name="Google Shape;43;p1"/>
          <p:cNvSpPr/>
          <p:nvPr/>
        </p:nvSpPr>
        <p:spPr>
          <a:xfrm>
            <a:off x="11711350" y="16952575"/>
            <a:ext cx="20582400" cy="14338500"/>
          </a:xfrm>
          <a:prstGeom prst="rect">
            <a:avLst/>
          </a:prstGeom>
          <a:solidFill>
            <a:srgbClr val="8C8C8C">
              <a:alpha val="708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 name="Google Shape;44;p1"/>
          <p:cNvSpPr txBox="1"/>
          <p:nvPr>
            <p:ph idx="3" type="body"/>
          </p:nvPr>
        </p:nvSpPr>
        <p:spPr>
          <a:xfrm>
            <a:off x="17410138" y="17008513"/>
            <a:ext cx="100506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Visuals</a:t>
            </a:r>
            <a:endParaRPr sz="4500">
              <a:solidFill>
                <a:schemeClr val="lt1"/>
              </a:solidFill>
              <a:latin typeface="Helvetica Neue"/>
              <a:ea typeface="Helvetica Neue"/>
              <a:cs typeface="Helvetica Neue"/>
              <a:sym typeface="Helvetica Neue"/>
            </a:endParaRPr>
          </a:p>
        </p:txBody>
      </p:sp>
      <p:sp>
        <p:nvSpPr>
          <p:cNvPr id="45" name="Google Shape;45;p1"/>
          <p:cNvSpPr txBox="1"/>
          <p:nvPr>
            <p:ph idx="5" type="body"/>
          </p:nvPr>
        </p:nvSpPr>
        <p:spPr>
          <a:xfrm>
            <a:off x="11655687" y="5548749"/>
            <a:ext cx="100488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Objectives</a:t>
            </a:r>
            <a:endParaRPr sz="4500">
              <a:solidFill>
                <a:schemeClr val="lt1"/>
              </a:solidFill>
              <a:latin typeface="Helvetica Neue"/>
              <a:ea typeface="Helvetica Neue"/>
              <a:cs typeface="Helvetica Neue"/>
              <a:sym typeface="Helvetica Neue"/>
            </a:endParaRPr>
          </a:p>
        </p:txBody>
      </p:sp>
      <p:pic>
        <p:nvPicPr>
          <p:cNvPr id="46" name="Google Shape;46;p1"/>
          <p:cNvPicPr preferRelativeResize="0"/>
          <p:nvPr/>
        </p:nvPicPr>
        <p:blipFill>
          <a:blip r:embed="rId4">
            <a:alphaModFix/>
          </a:blip>
          <a:stretch>
            <a:fillRect/>
          </a:stretch>
        </p:blipFill>
        <p:spPr>
          <a:xfrm>
            <a:off x="1039062" y="607687"/>
            <a:ext cx="4511926" cy="4511926"/>
          </a:xfrm>
          <a:prstGeom prst="rect">
            <a:avLst/>
          </a:prstGeom>
          <a:noFill/>
          <a:ln>
            <a:noFill/>
          </a:ln>
        </p:spPr>
      </p:pic>
      <p:sp>
        <p:nvSpPr>
          <p:cNvPr id="47" name="Google Shape;47;p1"/>
          <p:cNvSpPr/>
          <p:nvPr/>
        </p:nvSpPr>
        <p:spPr>
          <a:xfrm>
            <a:off x="22242425" y="5548750"/>
            <a:ext cx="10058400" cy="10972500"/>
          </a:xfrm>
          <a:prstGeom prst="rect">
            <a:avLst/>
          </a:prstGeom>
          <a:solidFill>
            <a:srgbClr val="8C8C8C">
              <a:alpha val="708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 name="Google Shape;48;p1"/>
          <p:cNvSpPr txBox="1"/>
          <p:nvPr>
            <p:ph idx="7" type="body"/>
          </p:nvPr>
        </p:nvSpPr>
        <p:spPr>
          <a:xfrm>
            <a:off x="23563850" y="5548750"/>
            <a:ext cx="74109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Materials and Methods</a:t>
            </a:r>
            <a:endParaRPr sz="4500">
              <a:solidFill>
                <a:schemeClr val="lt1"/>
              </a:solidFill>
              <a:latin typeface="Helvetica Neue"/>
              <a:ea typeface="Helvetica Neue"/>
              <a:cs typeface="Helvetica Neue"/>
              <a:sym typeface="Helvetica Neue"/>
            </a:endParaRPr>
          </a:p>
        </p:txBody>
      </p:sp>
      <p:sp>
        <p:nvSpPr>
          <p:cNvPr id="49" name="Google Shape;49;p1"/>
          <p:cNvSpPr txBox="1"/>
          <p:nvPr>
            <p:ph idx="8" type="body"/>
          </p:nvPr>
        </p:nvSpPr>
        <p:spPr>
          <a:xfrm>
            <a:off x="33492342" y="5548749"/>
            <a:ext cx="100470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Frontend/UI</a:t>
            </a:r>
            <a:endParaRPr sz="4500">
              <a:solidFill>
                <a:schemeClr val="lt1"/>
              </a:solidFill>
              <a:latin typeface="Helvetica Neue"/>
              <a:ea typeface="Helvetica Neue"/>
              <a:cs typeface="Helvetica Neue"/>
              <a:sym typeface="Helvetica Neue"/>
            </a:endParaRPr>
          </a:p>
        </p:txBody>
      </p:sp>
      <p:sp>
        <p:nvSpPr>
          <p:cNvPr id="50" name="Google Shape;50;p1"/>
          <p:cNvSpPr txBox="1"/>
          <p:nvPr>
            <p:ph idx="13" type="body"/>
          </p:nvPr>
        </p:nvSpPr>
        <p:spPr>
          <a:xfrm>
            <a:off x="33387742" y="19165513"/>
            <a:ext cx="100470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Future Goals</a:t>
            </a:r>
            <a:endParaRPr sz="4500">
              <a:solidFill>
                <a:schemeClr val="lt1"/>
              </a:solidFill>
              <a:latin typeface="Helvetica Neue"/>
              <a:ea typeface="Helvetica Neue"/>
              <a:cs typeface="Helvetica Neue"/>
              <a:sym typeface="Helvetica Neue"/>
            </a:endParaRPr>
          </a:p>
        </p:txBody>
      </p:sp>
      <p:sp>
        <p:nvSpPr>
          <p:cNvPr id="51" name="Google Shape;51;p1"/>
          <p:cNvSpPr txBox="1"/>
          <p:nvPr>
            <p:ph idx="14" type="body"/>
          </p:nvPr>
        </p:nvSpPr>
        <p:spPr>
          <a:xfrm>
            <a:off x="33387750" y="19827975"/>
            <a:ext cx="10052100" cy="69264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chemeClr val="dk1"/>
              </a:buClr>
              <a:buSzPts val="1100"/>
              <a:buFont typeface="Arial"/>
              <a:buNone/>
            </a:pPr>
            <a:r>
              <a:rPr lang="en-US" sz="3000">
                <a:solidFill>
                  <a:schemeClr val="lt1"/>
                </a:solidFill>
                <a:latin typeface="Helvetica Neue"/>
                <a:ea typeface="Helvetica Neue"/>
                <a:cs typeface="Helvetica Neue"/>
                <a:sym typeface="Helvetica Neue"/>
              </a:rPr>
              <a:t>Some of the ideas and goals we have for the future include:</a:t>
            </a:r>
            <a:endParaRPr sz="3000">
              <a:solidFill>
                <a:schemeClr val="lt1"/>
              </a:solidFill>
              <a:latin typeface="Helvetica Neue"/>
              <a:ea typeface="Helvetica Neue"/>
              <a:cs typeface="Helvetica Neue"/>
              <a:sym typeface="Helvetica Neue"/>
            </a:endParaRPr>
          </a:p>
          <a:p>
            <a:pPr indent="-419100" lvl="0" marL="457200" rtl="0" algn="l">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Allowing users to select individual courses and have all the necessary resources already available for them without extra downloads</a:t>
            </a:r>
            <a:endParaRPr sz="3000">
              <a:solidFill>
                <a:schemeClr val="lt1"/>
              </a:solidFill>
              <a:latin typeface="Helvetica Neue"/>
              <a:ea typeface="Helvetica Neue"/>
              <a:cs typeface="Helvetica Neue"/>
              <a:sym typeface="Helvetica Neue"/>
            </a:endParaRPr>
          </a:p>
          <a:p>
            <a:pPr indent="-419100" lvl="0" marL="457200" rtl="0" algn="l">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Allowing professors to upload materials and manage their courses on the app to allow the features mentioned above</a:t>
            </a:r>
            <a:endParaRPr sz="3000">
              <a:solidFill>
                <a:schemeClr val="lt1"/>
              </a:solidFill>
              <a:latin typeface="Helvetica Neue"/>
              <a:ea typeface="Helvetica Neue"/>
              <a:cs typeface="Helvetica Neue"/>
              <a:sym typeface="Helvetica Neue"/>
            </a:endParaRPr>
          </a:p>
          <a:p>
            <a:pPr indent="-419100" lvl="0" marL="457200" rtl="0" algn="l">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Incorporate AI for giving users feedback and tips on how to improve their code/coding habits</a:t>
            </a:r>
            <a:endParaRPr sz="3000">
              <a:solidFill>
                <a:schemeClr val="lt1"/>
              </a:solidFill>
              <a:latin typeface="Helvetica Neue"/>
              <a:ea typeface="Helvetica Neue"/>
              <a:cs typeface="Helvetica Neue"/>
              <a:sym typeface="Helvetica Neue"/>
            </a:endParaRPr>
          </a:p>
          <a:p>
            <a:pPr indent="-419100" lvl="0" marL="457200" rtl="0" algn="l">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Possibly creating a better UI from scratch for more control and more flexible aesthetics</a:t>
            </a:r>
            <a:endParaRPr sz="3000">
              <a:solidFill>
                <a:schemeClr val="lt1"/>
              </a:solidFill>
              <a:latin typeface="Helvetica Neue"/>
              <a:ea typeface="Helvetica Neue"/>
              <a:cs typeface="Helvetica Neue"/>
              <a:sym typeface="Helvetica Neue"/>
            </a:endParaRPr>
          </a:p>
          <a:p>
            <a:pPr indent="-419100" lvl="0" marL="457200" rtl="0" algn="l">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Make </a:t>
            </a:r>
            <a:r>
              <a:rPr lang="en-US" sz="3000">
                <a:solidFill>
                  <a:schemeClr val="lt1"/>
                </a:solidFill>
                <a:latin typeface="Helvetica Neue"/>
                <a:ea typeface="Helvetica Neue"/>
                <a:cs typeface="Helvetica Neue"/>
                <a:sym typeface="Helvetica Neue"/>
              </a:rPr>
              <a:t>the</a:t>
            </a:r>
            <a:r>
              <a:rPr lang="en-US" sz="3000">
                <a:solidFill>
                  <a:schemeClr val="lt1"/>
                </a:solidFill>
                <a:latin typeface="Helvetica Neue"/>
                <a:ea typeface="Helvetica Neue"/>
                <a:cs typeface="Helvetica Neue"/>
                <a:sym typeface="Helvetica Neue"/>
              </a:rPr>
              <a:t> app distributable (through platforms such as Docker)</a:t>
            </a:r>
            <a:endParaRPr sz="3000">
              <a:solidFill>
                <a:schemeClr val="lt1"/>
              </a:solidFill>
              <a:latin typeface="Helvetica Neue"/>
              <a:ea typeface="Helvetica Neue"/>
              <a:cs typeface="Helvetica Neue"/>
              <a:sym typeface="Helvetica Neue"/>
            </a:endParaRPr>
          </a:p>
        </p:txBody>
      </p:sp>
      <p:sp>
        <p:nvSpPr>
          <p:cNvPr id="52" name="Google Shape;52;p1"/>
          <p:cNvSpPr txBox="1"/>
          <p:nvPr>
            <p:ph idx="15" type="body"/>
          </p:nvPr>
        </p:nvSpPr>
        <p:spPr>
          <a:xfrm>
            <a:off x="33390292" y="27584401"/>
            <a:ext cx="100470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Acknowledgements</a:t>
            </a:r>
            <a:endParaRPr sz="4500">
              <a:solidFill>
                <a:schemeClr val="lt1"/>
              </a:solidFill>
              <a:latin typeface="Helvetica Neue"/>
              <a:ea typeface="Helvetica Neue"/>
              <a:cs typeface="Helvetica Neue"/>
              <a:sym typeface="Helvetica Neue"/>
            </a:endParaRPr>
          </a:p>
        </p:txBody>
      </p:sp>
      <p:sp>
        <p:nvSpPr>
          <p:cNvPr id="53" name="Google Shape;53;p1"/>
          <p:cNvSpPr txBox="1"/>
          <p:nvPr>
            <p:ph idx="16" type="body"/>
          </p:nvPr>
        </p:nvSpPr>
        <p:spPr>
          <a:xfrm>
            <a:off x="33466500" y="28338451"/>
            <a:ext cx="10052100" cy="1454400"/>
          </a:xfrm>
          <a:prstGeom prst="rect">
            <a:avLst/>
          </a:prstGeom>
          <a:noFill/>
          <a:ln>
            <a:noFill/>
          </a:ln>
        </p:spPr>
        <p:txBody>
          <a:bodyPr anchorCtr="0" anchor="t" bIns="228575" lIns="228575" spcFirstLastPara="1" rIns="228575" wrap="square" tIns="228575">
            <a:spAutoFit/>
          </a:bodyPr>
          <a:lstStyle/>
          <a:p>
            <a:pPr indent="-419100" lvl="0" marL="457200" rtl="0" algn="l">
              <a:lnSpc>
                <a:spcPct val="115000"/>
              </a:lnSpc>
              <a:spcBef>
                <a:spcPts val="0"/>
              </a:spcBef>
              <a:spcAft>
                <a:spcPts val="0"/>
              </a:spcAft>
              <a:buClr>
                <a:schemeClr val="lt1"/>
              </a:buClr>
              <a:buSzPts val="3000"/>
              <a:buFont typeface="Helvetica Neue"/>
              <a:buChar char="●"/>
            </a:pPr>
            <a:r>
              <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RCOS professors, coordinators, and mentors</a:t>
            </a:r>
            <a:endParaRPr sz="3000">
              <a:solidFill>
                <a:schemeClr val="lt1"/>
              </a:solidFill>
              <a:latin typeface="Helvetica Neue"/>
              <a:ea typeface="Helvetica Neue"/>
              <a:cs typeface="Helvetica Neue"/>
              <a:sym typeface="Helvetica Neue"/>
            </a:endParaRPr>
          </a:p>
        </p:txBody>
      </p:sp>
      <p:sp>
        <p:nvSpPr>
          <p:cNvPr id="54" name="Google Shape;54;p1"/>
          <p:cNvSpPr txBox="1"/>
          <p:nvPr>
            <p:ph idx="19" type="body"/>
          </p:nvPr>
        </p:nvSpPr>
        <p:spPr>
          <a:xfrm>
            <a:off x="5932593" y="2789587"/>
            <a:ext cx="31998900" cy="1280100"/>
          </a:xfrm>
          <a:prstGeom prst="rect">
            <a:avLst/>
          </a:prstGeom>
          <a:noFill/>
          <a:ln>
            <a:noFill/>
          </a:ln>
        </p:spPr>
        <p:txBody>
          <a:bodyPr anchorCtr="1" anchor="t" bIns="45700" lIns="91425" spcFirstLastPara="1" rIns="91425" wrap="square" tIns="45700">
            <a:normAutofit lnSpcReduction="20000"/>
          </a:bodyPr>
          <a:lstStyle/>
          <a:p>
            <a:pPr indent="0" lvl="0" marL="0" rtl="0" algn="ctr">
              <a:spcBef>
                <a:spcPts val="0"/>
              </a:spcBef>
              <a:spcAft>
                <a:spcPts val="0"/>
              </a:spcAft>
              <a:buClr>
                <a:srgbClr val="1F3864"/>
              </a:buClr>
              <a:buSzPts val="8800"/>
              <a:buFont typeface="Calibri"/>
              <a:buNone/>
            </a:pPr>
            <a:r>
              <a:rPr i="1" lang="en-US">
                <a:solidFill>
                  <a:schemeClr val="lt1"/>
                </a:solidFill>
                <a:latin typeface="Helvetica Neue"/>
                <a:ea typeface="Helvetica Neue"/>
                <a:cs typeface="Helvetica Neue"/>
                <a:sym typeface="Helvetica Neue"/>
              </a:rPr>
              <a:t>Abedalah Safi, Abrar Zaki, Ayaan Ahmad, Joshua Javillo</a:t>
            </a:r>
            <a:endParaRPr i="1">
              <a:solidFill>
                <a:schemeClr val="lt1"/>
              </a:solidFill>
              <a:latin typeface="Helvetica Neue"/>
              <a:ea typeface="Helvetica Neue"/>
              <a:cs typeface="Helvetica Neue"/>
              <a:sym typeface="Helvetica Neue"/>
            </a:endParaRPr>
          </a:p>
        </p:txBody>
      </p:sp>
      <p:sp>
        <p:nvSpPr>
          <p:cNvPr id="55" name="Google Shape;55;p1"/>
          <p:cNvSpPr txBox="1"/>
          <p:nvPr>
            <p:ph idx="20" type="body"/>
          </p:nvPr>
        </p:nvSpPr>
        <p:spPr>
          <a:xfrm>
            <a:off x="5932593" y="1151613"/>
            <a:ext cx="31998900" cy="1638000"/>
          </a:xfrm>
          <a:prstGeom prst="rect">
            <a:avLst/>
          </a:prstGeom>
          <a:noFill/>
          <a:ln>
            <a:noFill/>
          </a:ln>
        </p:spPr>
        <p:txBody>
          <a:bodyPr anchorCtr="1" anchor="t" bIns="45700" lIns="91425" spcFirstLastPara="1" rIns="91425" wrap="square" tIns="45700">
            <a:normAutofit lnSpcReduction="20000"/>
          </a:bodyPr>
          <a:lstStyle/>
          <a:p>
            <a:pPr indent="0" lvl="0" marL="0" rtl="0" algn="ctr">
              <a:spcBef>
                <a:spcPts val="0"/>
              </a:spcBef>
              <a:spcAft>
                <a:spcPts val="0"/>
              </a:spcAft>
              <a:buClr>
                <a:srgbClr val="1F3864"/>
              </a:buClr>
              <a:buSzPts val="11500"/>
              <a:buFont typeface="Calibri"/>
              <a:buNone/>
            </a:pPr>
            <a:r>
              <a:rPr lang="en-US">
                <a:solidFill>
                  <a:schemeClr val="lt1"/>
                </a:solidFill>
                <a:latin typeface="Helvetica Neue"/>
                <a:ea typeface="Helvetica Neue"/>
                <a:cs typeface="Helvetica Neue"/>
                <a:sym typeface="Helvetica Neue"/>
              </a:rPr>
              <a:t>SIFT: Submitty Instant Feedback and Testing</a:t>
            </a:r>
            <a:endParaRPr>
              <a:solidFill>
                <a:schemeClr val="lt1"/>
              </a:solidFill>
              <a:latin typeface="Helvetica Neue"/>
              <a:ea typeface="Helvetica Neue"/>
              <a:cs typeface="Helvetica Neue"/>
              <a:sym typeface="Helvetica Neue"/>
            </a:endParaRPr>
          </a:p>
        </p:txBody>
      </p:sp>
      <p:sp>
        <p:nvSpPr>
          <p:cNvPr id="56" name="Google Shape;56;p1"/>
          <p:cNvSpPr txBox="1"/>
          <p:nvPr>
            <p:ph idx="6" type="body"/>
          </p:nvPr>
        </p:nvSpPr>
        <p:spPr>
          <a:xfrm>
            <a:off x="22244906" y="6328831"/>
            <a:ext cx="10048800" cy="5100900"/>
          </a:xfrm>
          <a:prstGeom prst="rect">
            <a:avLst/>
          </a:prstGeom>
          <a:noFill/>
          <a:ln>
            <a:noFill/>
          </a:ln>
        </p:spPr>
        <p:txBody>
          <a:bodyPr anchorCtr="0" anchor="t" bIns="228575" lIns="228575" spcFirstLastPara="1" rIns="228575" wrap="square" tIns="228575">
            <a:spAutoFit/>
          </a:bodyPr>
          <a:lstStyle/>
          <a:p>
            <a:pPr indent="0" lvl="0" marL="0" rtl="0" algn="ctr">
              <a:lnSpc>
                <a:spcPct val="115000"/>
              </a:lnSpc>
              <a:spcBef>
                <a:spcPts val="0"/>
              </a:spcBef>
              <a:spcAft>
                <a:spcPts val="0"/>
              </a:spcAft>
              <a:buClr>
                <a:schemeClr val="dk1"/>
              </a:buClr>
              <a:buSzPts val="1100"/>
              <a:buNone/>
            </a:pPr>
            <a:r>
              <a:t/>
            </a:r>
            <a:endParaRPr sz="2800">
              <a:solidFill>
                <a:schemeClr val="lt1"/>
              </a:solidFill>
              <a:latin typeface="Helvetica Neue"/>
              <a:ea typeface="Helvetica Neue"/>
              <a:cs typeface="Helvetica Neue"/>
              <a:sym typeface="Helvetica Neue"/>
            </a:endParaRPr>
          </a:p>
          <a:p>
            <a:pPr indent="0" lvl="0" marL="0" rtl="0" algn="ctr">
              <a:lnSpc>
                <a:spcPct val="115000"/>
              </a:lnSpc>
              <a:spcBef>
                <a:spcPts val="0"/>
              </a:spcBef>
              <a:spcAft>
                <a:spcPts val="0"/>
              </a:spcAft>
              <a:buClr>
                <a:schemeClr val="dk1"/>
              </a:buClr>
              <a:buSzPts val="1100"/>
              <a:buNone/>
            </a:pPr>
            <a:r>
              <a:t/>
            </a:r>
            <a:endParaRPr sz="2800">
              <a:solidFill>
                <a:schemeClr val="lt1"/>
              </a:solidFill>
              <a:latin typeface="Helvetica Neue"/>
              <a:ea typeface="Helvetica Neue"/>
              <a:cs typeface="Helvetica Neue"/>
              <a:sym typeface="Helvetica Neue"/>
            </a:endParaRPr>
          </a:p>
          <a:p>
            <a:pPr indent="0" lvl="0" marL="0" rtl="0" algn="ctr">
              <a:lnSpc>
                <a:spcPct val="115000"/>
              </a:lnSpc>
              <a:spcBef>
                <a:spcPts val="0"/>
              </a:spcBef>
              <a:spcAft>
                <a:spcPts val="0"/>
              </a:spcAft>
              <a:buClr>
                <a:schemeClr val="dk1"/>
              </a:buClr>
              <a:buSzPts val="1100"/>
              <a:buNone/>
            </a:pPr>
            <a:r>
              <a:t/>
            </a:r>
            <a:endParaRPr sz="3000">
              <a:solidFill>
                <a:schemeClr val="lt1"/>
              </a:solidFill>
              <a:latin typeface="Helvetica Neue"/>
              <a:ea typeface="Helvetica Neue"/>
              <a:cs typeface="Helvetica Neue"/>
              <a:sym typeface="Helvetica Neue"/>
            </a:endParaRPr>
          </a:p>
          <a:p>
            <a:pPr indent="0" lvl="0" marL="0" rtl="0" algn="ctr">
              <a:lnSpc>
                <a:spcPct val="115000"/>
              </a:lnSpc>
              <a:spcBef>
                <a:spcPts val="0"/>
              </a:spcBef>
              <a:spcAft>
                <a:spcPts val="0"/>
              </a:spcAft>
              <a:buClr>
                <a:schemeClr val="dk1"/>
              </a:buClr>
              <a:buSzPts val="1100"/>
              <a:buFont typeface="Arial"/>
              <a:buNone/>
            </a:pPr>
            <a:r>
              <a:rPr lang="en-US" sz="3000">
                <a:solidFill>
                  <a:schemeClr val="lt1"/>
                </a:solidFill>
                <a:latin typeface="Helvetica Neue"/>
                <a:ea typeface="Helvetica Neue"/>
                <a:cs typeface="Helvetica Neue"/>
                <a:sym typeface="Helvetica Neue"/>
              </a:rPr>
              <a:t>One of our main goals with S.I.F.T was to make an easy-to-run, smooth application. As such:</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 We decided to </a:t>
            </a:r>
            <a:endParaRPr sz="3000">
              <a:solidFill>
                <a:schemeClr val="lt1"/>
              </a:solidFill>
              <a:latin typeface="Helvetica Neue"/>
              <a:ea typeface="Helvetica Neue"/>
              <a:cs typeface="Helvetica Neue"/>
              <a:sym typeface="Helvetica Neue"/>
            </a:endParaRPr>
          </a:p>
          <a:p>
            <a:pPr indent="-419100" lvl="0" marL="4572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Our front-end team, composed of </a:t>
            </a:r>
            <a:r>
              <a:rPr i="1" lang="en-US" sz="3000">
                <a:solidFill>
                  <a:schemeClr val="lt1"/>
                </a:solidFill>
                <a:latin typeface="Helvetica Neue"/>
                <a:ea typeface="Helvetica Neue"/>
                <a:cs typeface="Helvetica Neue"/>
                <a:sym typeface="Helvetica Neue"/>
              </a:rPr>
              <a:t>Abrar Zaki </a:t>
            </a:r>
            <a:r>
              <a:rPr lang="en-US" sz="3000">
                <a:solidFill>
                  <a:schemeClr val="lt1"/>
                </a:solidFill>
                <a:latin typeface="Helvetica Neue"/>
                <a:ea typeface="Helvetica Neue"/>
                <a:cs typeface="Helvetica Neue"/>
                <a:sym typeface="Helvetica Neue"/>
              </a:rPr>
              <a:t>and </a:t>
            </a:r>
            <a:r>
              <a:rPr i="1" lang="en-US" sz="3000">
                <a:solidFill>
                  <a:schemeClr val="lt1"/>
                </a:solidFill>
                <a:latin typeface="Helvetica Neue"/>
                <a:ea typeface="Helvetica Neue"/>
                <a:cs typeface="Helvetica Neue"/>
                <a:sym typeface="Helvetica Neue"/>
              </a:rPr>
              <a:t>Joshua Javillo</a:t>
            </a:r>
            <a:r>
              <a:rPr lang="en-US" sz="3000">
                <a:solidFill>
                  <a:schemeClr val="lt1"/>
                </a:solidFill>
                <a:latin typeface="Helvetica Neue"/>
                <a:ea typeface="Helvetica Neue"/>
                <a:cs typeface="Helvetica Neue"/>
                <a:sym typeface="Helvetica Neue"/>
              </a:rPr>
              <a:t>, researched for ways to create a simple, easy-to-use UI. </a:t>
            </a:r>
            <a:endParaRPr sz="3000">
              <a:solidFill>
                <a:schemeClr val="lt1"/>
              </a:solidFill>
              <a:latin typeface="Helvetica Neue"/>
              <a:ea typeface="Helvetica Neue"/>
              <a:cs typeface="Helvetica Neue"/>
              <a:sym typeface="Helvetica Neue"/>
            </a:endParaRPr>
          </a:p>
        </p:txBody>
      </p:sp>
      <p:pic>
        <p:nvPicPr>
          <p:cNvPr id="57" name="Google Shape;57;p1"/>
          <p:cNvPicPr preferRelativeResize="0"/>
          <p:nvPr/>
        </p:nvPicPr>
        <p:blipFill>
          <a:blip r:embed="rId5">
            <a:alphaModFix/>
          </a:blip>
          <a:stretch>
            <a:fillRect/>
          </a:stretch>
        </p:blipFill>
        <p:spPr>
          <a:xfrm>
            <a:off x="12366276" y="26984800"/>
            <a:ext cx="6487550" cy="3668193"/>
          </a:xfrm>
          <a:prstGeom prst="rect">
            <a:avLst/>
          </a:prstGeom>
          <a:noFill/>
          <a:ln>
            <a:noFill/>
          </a:ln>
        </p:spPr>
      </p:pic>
      <p:sp>
        <p:nvSpPr>
          <p:cNvPr id="58" name="Google Shape;58;p1"/>
          <p:cNvSpPr txBox="1"/>
          <p:nvPr>
            <p:ph idx="3" type="body"/>
          </p:nvPr>
        </p:nvSpPr>
        <p:spPr>
          <a:xfrm>
            <a:off x="472638" y="18572338"/>
            <a:ext cx="10050600" cy="877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Clr>
                <a:srgbClr val="1F3864"/>
              </a:buClr>
              <a:buSzPts val="3700"/>
              <a:buNone/>
            </a:pPr>
            <a:r>
              <a:rPr lang="en-US" sz="4500">
                <a:solidFill>
                  <a:schemeClr val="lt1"/>
                </a:solidFill>
                <a:latin typeface="Helvetica Neue"/>
                <a:ea typeface="Helvetica Neue"/>
                <a:cs typeface="Helvetica Neue"/>
                <a:sym typeface="Helvetica Neue"/>
              </a:rPr>
              <a:t>Accomplishments</a:t>
            </a:r>
            <a:endParaRPr sz="4500">
              <a:solidFill>
                <a:schemeClr val="lt1"/>
              </a:solidFill>
              <a:latin typeface="Helvetica Neue"/>
              <a:ea typeface="Helvetica Neue"/>
              <a:cs typeface="Helvetica Neue"/>
              <a:sym typeface="Helvetica Neue"/>
            </a:endParaRPr>
          </a:p>
        </p:txBody>
      </p:sp>
      <p:sp>
        <p:nvSpPr>
          <p:cNvPr id="59" name="Google Shape;59;p1"/>
          <p:cNvSpPr txBox="1"/>
          <p:nvPr/>
        </p:nvSpPr>
        <p:spPr>
          <a:xfrm>
            <a:off x="428325" y="19651975"/>
            <a:ext cx="10464600" cy="12525000"/>
          </a:xfrm>
          <a:prstGeom prst="rect">
            <a:avLst/>
          </a:prstGeom>
          <a:noFill/>
          <a:ln>
            <a:noFill/>
          </a:ln>
        </p:spPr>
        <p:txBody>
          <a:bodyPr anchorCtr="0" anchor="t" bIns="91425" lIns="91425" spcFirstLastPara="1" rIns="91425" wrap="square" tIns="91425">
            <a:noAutofit/>
          </a:bodyPr>
          <a:lstStyle/>
          <a:p>
            <a:pPr indent="-419100" lvl="0" marL="9144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We started S.I.F.T from scratch, making our UI over the semester</a:t>
            </a:r>
            <a:endParaRPr sz="3000">
              <a:solidFill>
                <a:schemeClr val="lt1"/>
              </a:solidFill>
              <a:latin typeface="Helvetica Neue"/>
              <a:ea typeface="Helvetica Neue"/>
              <a:cs typeface="Helvetica Neue"/>
              <a:sym typeface="Helvetica Neue"/>
            </a:endParaRPr>
          </a:p>
          <a:p>
            <a:pPr indent="-419100" lvl="0" marL="9144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We created a new logo</a:t>
            </a:r>
            <a:endParaRPr sz="3000">
              <a:solidFill>
                <a:schemeClr val="lt1"/>
              </a:solidFill>
              <a:latin typeface="Helvetica Neue"/>
              <a:ea typeface="Helvetica Neue"/>
              <a:cs typeface="Helvetica Neue"/>
              <a:sym typeface="Helvetica Neue"/>
            </a:endParaRPr>
          </a:p>
          <a:p>
            <a:pPr indent="-419100" lvl="1" marL="1371600" rtl="0" algn="l">
              <a:lnSpc>
                <a:spcPct val="115000"/>
              </a:lnSpc>
              <a:spcBef>
                <a:spcPts val="0"/>
              </a:spcBef>
              <a:spcAft>
                <a:spcPts val="0"/>
              </a:spcAft>
              <a:buClr>
                <a:schemeClr val="lt1"/>
              </a:buClr>
              <a:buSzPts val="3000"/>
              <a:buFont typeface="Helvetica Neue"/>
              <a:buChar char="○"/>
            </a:pPr>
            <a:r>
              <a:rPr lang="en-US" sz="3000">
                <a:solidFill>
                  <a:schemeClr val="lt1"/>
                </a:solidFill>
                <a:latin typeface="Helvetica Neue"/>
                <a:ea typeface="Helvetica Neue"/>
                <a:cs typeface="Helvetica Neue"/>
                <a:sym typeface="Helvetica Neue"/>
              </a:rPr>
              <a:t>A modified version of the Submitty logo with the duck made up of green binary</a:t>
            </a:r>
            <a:endParaRPr sz="3000">
              <a:solidFill>
                <a:schemeClr val="lt1"/>
              </a:solidFill>
              <a:latin typeface="Helvetica Neue"/>
              <a:ea typeface="Helvetica Neue"/>
              <a:cs typeface="Helvetica Neue"/>
              <a:sym typeface="Helvetica Neue"/>
            </a:endParaRPr>
          </a:p>
          <a:p>
            <a:pPr indent="0" lvl="0" marL="914400" rtl="0" algn="l">
              <a:lnSpc>
                <a:spcPct val="115000"/>
              </a:lnSpc>
              <a:spcBef>
                <a:spcPts val="0"/>
              </a:spcBef>
              <a:spcAft>
                <a:spcPts val="0"/>
              </a:spcAft>
              <a:buClr>
                <a:schemeClr val="dk1"/>
              </a:buClr>
              <a:buSzPts val="1100"/>
              <a:buFont typeface="Arial"/>
              <a:buNone/>
            </a:pPr>
            <a:r>
              <a:rPr lang="en-US" sz="3000">
                <a:solidFill>
                  <a:schemeClr val="lt1"/>
                </a:solidFill>
                <a:latin typeface="Helvetica Neue"/>
                <a:ea typeface="Helvetica Neue"/>
                <a:cs typeface="Helvetica Neue"/>
                <a:sym typeface="Helvetica Neue"/>
              </a:rPr>
              <a:t> </a:t>
            </a:r>
            <a:endParaRPr sz="3000">
              <a:solidFill>
                <a:schemeClr val="lt1"/>
              </a:solidFill>
              <a:latin typeface="Helvetica Neue"/>
              <a:ea typeface="Helvetica Neue"/>
              <a:cs typeface="Helvetica Neue"/>
              <a:sym typeface="Helvetica Neue"/>
            </a:endParaRPr>
          </a:p>
        </p:txBody>
      </p:sp>
      <p:pic>
        <p:nvPicPr>
          <p:cNvPr id="60" name="Google Shape;60;p1"/>
          <p:cNvPicPr preferRelativeResize="0"/>
          <p:nvPr/>
        </p:nvPicPr>
        <p:blipFill>
          <a:blip r:embed="rId6">
            <a:alphaModFix/>
          </a:blip>
          <a:stretch>
            <a:fillRect/>
          </a:stretch>
        </p:blipFill>
        <p:spPr>
          <a:xfrm>
            <a:off x="37752909" y="458534"/>
            <a:ext cx="3024175" cy="3024175"/>
          </a:xfrm>
          <a:prstGeom prst="rect">
            <a:avLst/>
          </a:prstGeom>
          <a:noFill/>
          <a:ln>
            <a:noFill/>
          </a:ln>
        </p:spPr>
      </p:pic>
      <p:pic>
        <p:nvPicPr>
          <p:cNvPr id="61" name="Google Shape;61;p1"/>
          <p:cNvPicPr preferRelativeResize="0"/>
          <p:nvPr/>
        </p:nvPicPr>
        <p:blipFill>
          <a:blip r:embed="rId7">
            <a:alphaModFix/>
          </a:blip>
          <a:stretch>
            <a:fillRect/>
          </a:stretch>
        </p:blipFill>
        <p:spPr>
          <a:xfrm>
            <a:off x="41258626" y="458538"/>
            <a:ext cx="3024175" cy="3024175"/>
          </a:xfrm>
          <a:prstGeom prst="rect">
            <a:avLst/>
          </a:prstGeom>
          <a:noFill/>
          <a:ln>
            <a:noFill/>
          </a:ln>
        </p:spPr>
      </p:pic>
      <p:pic>
        <p:nvPicPr>
          <p:cNvPr id="62" name="Google Shape;62;p1"/>
          <p:cNvPicPr preferRelativeResize="0"/>
          <p:nvPr/>
        </p:nvPicPr>
        <p:blipFill>
          <a:blip r:embed="rId8">
            <a:alphaModFix/>
          </a:blip>
          <a:stretch>
            <a:fillRect/>
          </a:stretch>
        </p:blipFill>
        <p:spPr>
          <a:xfrm>
            <a:off x="22798838" y="6544675"/>
            <a:ext cx="1438600" cy="1438600"/>
          </a:xfrm>
          <a:prstGeom prst="rect">
            <a:avLst/>
          </a:prstGeom>
          <a:noFill/>
          <a:ln>
            <a:noFill/>
          </a:ln>
        </p:spPr>
      </p:pic>
      <p:pic>
        <p:nvPicPr>
          <p:cNvPr id="63" name="Google Shape;63;p1"/>
          <p:cNvPicPr preferRelativeResize="0"/>
          <p:nvPr/>
        </p:nvPicPr>
        <p:blipFill>
          <a:blip r:embed="rId9">
            <a:alphaModFix/>
          </a:blip>
          <a:stretch>
            <a:fillRect/>
          </a:stretch>
        </p:blipFill>
        <p:spPr>
          <a:xfrm>
            <a:off x="24527550" y="6482925"/>
            <a:ext cx="2543175" cy="1562100"/>
          </a:xfrm>
          <a:prstGeom prst="rect">
            <a:avLst/>
          </a:prstGeom>
          <a:noFill/>
          <a:ln>
            <a:noFill/>
          </a:ln>
        </p:spPr>
      </p:pic>
      <p:pic>
        <p:nvPicPr>
          <p:cNvPr id="64" name="Google Shape;64;p1"/>
          <p:cNvPicPr preferRelativeResize="0"/>
          <p:nvPr/>
        </p:nvPicPr>
        <p:blipFill rotWithShape="1">
          <a:blip r:embed="rId10">
            <a:alphaModFix/>
          </a:blip>
          <a:srcRect b="0" l="0" r="87635" t="0"/>
          <a:stretch/>
        </p:blipFill>
        <p:spPr>
          <a:xfrm>
            <a:off x="27332663" y="6482925"/>
            <a:ext cx="765648" cy="1562100"/>
          </a:xfrm>
          <a:prstGeom prst="rect">
            <a:avLst/>
          </a:prstGeom>
          <a:noFill/>
          <a:ln>
            <a:noFill/>
          </a:ln>
        </p:spPr>
      </p:pic>
      <p:pic>
        <p:nvPicPr>
          <p:cNvPr id="65" name="Google Shape;65;p1"/>
          <p:cNvPicPr preferRelativeResize="0"/>
          <p:nvPr/>
        </p:nvPicPr>
        <p:blipFill rotWithShape="1">
          <a:blip r:embed="rId11">
            <a:alphaModFix/>
          </a:blip>
          <a:srcRect b="16548" l="0" r="48773" t="0"/>
          <a:stretch/>
        </p:blipFill>
        <p:spPr>
          <a:xfrm>
            <a:off x="28297887" y="6543212"/>
            <a:ext cx="1438600" cy="1441530"/>
          </a:xfrm>
          <a:prstGeom prst="rect">
            <a:avLst/>
          </a:prstGeom>
          <a:noFill/>
          <a:ln>
            <a:noFill/>
          </a:ln>
        </p:spPr>
      </p:pic>
      <p:pic>
        <p:nvPicPr>
          <p:cNvPr id="66" name="Google Shape;66;p1"/>
          <p:cNvPicPr preferRelativeResize="0"/>
          <p:nvPr/>
        </p:nvPicPr>
        <p:blipFill>
          <a:blip r:embed="rId12">
            <a:alphaModFix/>
          </a:blip>
          <a:stretch>
            <a:fillRect/>
          </a:stretch>
        </p:blipFill>
        <p:spPr>
          <a:xfrm>
            <a:off x="29736492" y="6378463"/>
            <a:ext cx="2003266" cy="1771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6x48-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2012-02-03T19:11:35Z</dcterms:created>
  <dc:creator>PosterPresentations.com</dc:creator>
</cp:coreProperties>
</file>